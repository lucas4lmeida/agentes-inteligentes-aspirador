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1.xml" ContentType="application/vnd.openxmlformats-officedocument.drawingml.chart+xml"/>
  <Override PartName="/ppt/slides/charts/chart2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d354bde5842405d" /><Relationship Type="http://schemas.openxmlformats.org/officeDocument/2006/relationships/extended-properties" Target="/docProps/app.xml" Id="R806e0a5306ea43f6" /><Relationship Type="http://schemas.openxmlformats.org/officeDocument/2006/relationships/officeDocument" Target="/ppt/presentation.xml" Id="R71854a08717a4f3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06211aeb0254c22"/>
  </p:sldMasterIdLst>
  <p:notesMasterIdLst>
    <p:notesMasterId xmlns:r="http://schemas.openxmlformats.org/officeDocument/2006/relationships" r:id="R8171582a7dc64920"/>
  </p:notesMasterIdLst>
  <p:sldIdLst>
    <p:sldId xmlns:r="http://schemas.openxmlformats.org/officeDocument/2006/relationships" id="256" r:id="R0f2253127204444c"/>
    <p:sldId xmlns:r="http://schemas.openxmlformats.org/officeDocument/2006/relationships" id="257" r:id="R6455e61e5d674356"/>
    <p:sldId xmlns:r="http://schemas.openxmlformats.org/officeDocument/2006/relationships" id="258" r:id="Re05790c9b356491d"/>
    <p:sldId xmlns:r="http://schemas.openxmlformats.org/officeDocument/2006/relationships" id="259" r:id="R6e7c0a350db24366"/>
    <p:sldId xmlns:r="http://schemas.openxmlformats.org/officeDocument/2006/relationships" id="260" r:id="R7af0d3a64a234eec"/>
    <p:sldId xmlns:r="http://schemas.openxmlformats.org/officeDocument/2006/relationships" id="261" r:id="Raa208cffd0a4471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f1e5f31d85c4651" /><Relationship Type="http://schemas.openxmlformats.org/officeDocument/2006/relationships/slideMaster" Target="/ppt/slideMasters/slideMaster1.xml" Id="Rd06211aeb0254c22" /><Relationship Type="http://schemas.openxmlformats.org/officeDocument/2006/relationships/notesMaster" Target="/ppt/notesMasters/notesMaster1.xml" Id="R8171582a7dc64920" /><Relationship Type="http://schemas.openxmlformats.org/officeDocument/2006/relationships/presProps" Target="/ppt/presProps.xml" Id="Re84afa40c13d4071" /><Relationship Type="http://schemas.openxmlformats.org/officeDocument/2006/relationships/tableStyles" Target="/ppt/tableStyles.xml" Id="R712b5d5dd9f446d8" /><Relationship Type="http://schemas.openxmlformats.org/officeDocument/2006/relationships/slide" Target="/ppt/slides/slide1.xml" Id="R0f2253127204444c" /><Relationship Type="http://schemas.openxmlformats.org/officeDocument/2006/relationships/slide" Target="/ppt/slides/slide2.xml" Id="R6455e61e5d674356" /><Relationship Type="http://schemas.openxmlformats.org/officeDocument/2006/relationships/slide" Target="/ppt/slides/slide3.xml" Id="Re05790c9b356491d" /><Relationship Type="http://schemas.openxmlformats.org/officeDocument/2006/relationships/slide" Target="/ppt/slides/slide4.xml" Id="R6e7c0a350db24366" /><Relationship Type="http://schemas.openxmlformats.org/officeDocument/2006/relationships/slide" Target="/ppt/slides/slide5.xml" Id="R7af0d3a64a234eec" /><Relationship Type="http://schemas.openxmlformats.org/officeDocument/2006/relationships/slide" Target="/ppt/slides/slide6.xml" Id="Raa208cffd0a4471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4c05937298542c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da3542492c44cf0" /><Relationship Type="http://schemas.openxmlformats.org/officeDocument/2006/relationships/notesMaster" Target="/ppt/notesMasters/notesMaster1.xml" Id="Re9b3e7932f8c4a3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58a75c6969e474a" /><Relationship Type="http://schemas.openxmlformats.org/officeDocument/2006/relationships/notesMaster" Target="/ppt/notesMasters/notesMaster1.xml" Id="Rf06d009dcc304d4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e8b5518608542d6" /><Relationship Type="http://schemas.openxmlformats.org/officeDocument/2006/relationships/notesMaster" Target="/ppt/notesMasters/notesMaster1.xml" Id="R99706252a2284d9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1be918c8c244a32" /><Relationship Type="http://schemas.openxmlformats.org/officeDocument/2006/relationships/notesMaster" Target="/ppt/notesMasters/notesMaster1.xml" Id="Rb3598b716198459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fd7f3945a084502" /><Relationship Type="http://schemas.openxmlformats.org/officeDocument/2006/relationships/notesMaster" Target="/ppt/notesMasters/notesMaster1.xml" Id="Rfe9a65fcd2d3427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fd699ceab514f83" /><Relationship Type="http://schemas.openxmlformats.org/officeDocument/2006/relationships/notesMaster" Target="/ppt/notesMasters/notesMaster1.xml" Id="Rf89725dfeb0347e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 sugerido: 1 minuto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 objetivo foi comparar dois aspiradores: um reativo simples e outro reativo baseado em modelo. O ambiente é uma grade 4 por 4, determinística e parcialmente observável. Os agentes percebem a sujeira da célula atual e as passagens vizinhas. Não recebem o mapa, o tamanho, os obstáculos nem a sujeira distante. Não surge sujeira nova. Há três mapas fixos e trinta mapas aleatórios, com a mesma condição inicial para os dois programas.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Fontes: enunciado do Projeto 1 e agentes.py. Valores padrão: grade 4×4, 80 períodos, 3 cenários fixos, 30 aleatórios e 5 sementes do agente simples.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 sugerido: 1 minuto e 40 segundos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Os dois usam regras condição-ação. A primeira é igual: se o quadrado atual está sujo, aspirar.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 agente simples, se está limpo, sorteia uma passagem livre. Não registra o que já viu. A semente 42 repete as escolhas.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 agente com memória guarda um estado interno em coordenadas relativas ao ponto de partida: células limpas, bloqueadas ou ainda não visitadas, e o número de visitas. A cada período ele faz três coisas. Primeiro, atualiza o estado com o percepto local. Depois, aplica a regra: se há sujeira conhecida ou célula não visitada, dá um passo em direção à mais próxima; se não há, para. No empate, prefere o vizinho menos visitado e, depois, a ordem direita, baixo, esquerda e cima. Por último, aplica a ação no próprio modelo, porque o sensor já informou que a passagem está livre e o efeito no mundo é determinístico.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 sujeira distante não entra no mapa. O sensor só acusa sujeira debaixo do agente, e a regra aspira nessa mesma hora.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Fontes: enunciado do Projeto 1 e agentes.py. Valores padrão: grade 4×4, 80 períodos, 3 cenários fixos, 30 aleatórios e 5 sementes do agente simples.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 sugerido: 1 minuto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Cada ação ocupa um período, inclusive aspirar. A primeira medida soma os quadrados limpos ao fim de cada um dos 80 períodos. Quadrados que já estavam limpos também contam. Obstáculos ficam de fora. Limpar cedo aumenta essa soma. A segunda medida é a primeira menos o número de movimentos. Aspirar gasta tempo, mas não entra nesse desconto. O simulador conhece o ambiente inteiro para pontuar. Os agentes recebem só a informação local.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Fontes: enunciado do Projeto 1 e agentes.py. Valores padrão: grade 4×4, 80 períodos, 3 cenários fixos, 30 aleatórios e 5 sementes do agente simples.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 sugerido: 1 minuto e 30 segundos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Médias: simples, 1064,00 e 987,67; com memória, 1136,67 e 1121,00.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Alc. é a sujeira que ainda dava para alcançar. No cenário 2 o agente simples termina com um quadrado sujo alcançável. O agente com memória limpa os quatro nos três mapas e para entre os períodos 18 e 24. A primeira pontuação sobe porque a limpeza acontece mais cedo. A segunda sobe também porque, depois disso, ele não continua se movendo.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Fontes: enunciado do Projeto 1 e agentes.py. Valores padrão: grade 4×4, 80 períodos, 3 cenários fixos, 30 aleatórios e 5 sementes do agente simples.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 sugerido: 1 minuto e 20 segundos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Os dois gráficos do slide mostram os três cenários fixos, e o texto abaixo destaca a média de Pontos 2 nos trinta mapas aleatórios. Azul é o agente simples e verde é o agente com memória. O arquivo `resultados.svg` traz também o gráfico das médias aleatórias, com o desvio entre configurações.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Nesses trinta mapas, a média de Pontos 1 foi 1108,29 para o simples e 1162,20 para o com memória. A média de Pontos 2 foi 1031,60 e 1146,80. O desvio entre cenários ficou em torno de 77 pontos para o simples e 64 para o com memória. O agente com memória teve Pontos 2 maior nos 30 casos. Ele removeu a sujeira alcançável em todos. O simples fez isso em 127 das 150 execuções, contando cinco sementes por mapa.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 animação do cenário 2 mostra o comportamento por trás da tabela: o simples volta a células já limpas e deixa uma suja; o com memória cobre a fronteira do mapa e, no período 18, a ação passa a ser parar. O contador de movimentos dele trava em 13. O do simples segue até 77.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Fontes: enunciado do Projeto 1 e agentes.py. Valores padrão: grade 4×4, 80 períodos, 3 cenários fixos, 30 aleatórios e 5 sementes do agente simples.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 sugerido: 1 minuto e 30 segundos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Racionalidade é escolher a ação adequada à medida de desempenho, com a informação disponível. O mapa interno permite explorar sem repetir à toa e reconhecer quando a região conhecida está limpa. Parar nesse momento é adequado à segunda medida: cada movimento depois da limpeza desconta um ponto e não aumenta a limpeza. O agente simples não tem como saber disso, porque esquece o que já percebeu.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Isso não torna o programa ótimo em qualquer mundo. A grade tem tamanho fixo, os trinta mapas usam até dois obstáculos e o sorteio do agente simples está limitado a cinco sementes. A conclusão é que, nestes testes, o agente com memória foi mais adequado às duas medidas, em especial à que penaliza movimento.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Fontes: enunciado do Projeto 1 e agentes.py. Valores padrão: grade 4×4, 80 períodos, 3 cenários fixos, 30 aleatórios e 5 sementes do agente simples.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989a73ebec34eb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2a3413203024684" /><Relationship Type="http://schemas.openxmlformats.org/officeDocument/2006/relationships/slideLayout" Target="/ppt/slideLayouts/slideLayout1.xml" Id="R02fe2c13fb894d7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2fe2c13fb894d7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a321e2a3154aeb" /><Relationship Type="http://schemas.openxmlformats.org/officeDocument/2006/relationships/notesSlide" Target="/ppt/notesSlides/notesSlide1.xml" Id="R2be6957b190d45b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57907d0e9349d6" /><Relationship Type="http://schemas.openxmlformats.org/officeDocument/2006/relationships/notesSlide" Target="/ppt/notesSlides/notesSlide2.xml" Id="R9e7ff282d3454b4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d29eabf39045d2" /><Relationship Type="http://schemas.openxmlformats.org/officeDocument/2006/relationships/notesSlide" Target="/ppt/notesSlides/notesSlide3.xml" Id="Red31d52341974b0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4e379e7a804efb" /><Relationship Type="http://schemas.openxmlformats.org/officeDocument/2006/relationships/notesSlide" Target="/ppt/notesSlides/notesSlide4.xml" Id="Rd8fbabfd6c41489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2477aa691c4a0e" /><Relationship Type="http://schemas.openxmlformats.org/officeDocument/2006/relationships/chart" Target="/ppt/slides/charts/chart1.xml" Id="Ra97e6cd2607c4805" /><Relationship Type="http://schemas.openxmlformats.org/officeDocument/2006/relationships/chart" Target="/ppt/slides/charts/chart2.xml" Id="Rda0fd64027324027" /><Relationship Type="http://schemas.openxmlformats.org/officeDocument/2006/relationships/notesSlide" Target="/ppt/notesSlides/notesSlide5.xml" Id="R5b4f4bf5bb61469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583f6c9b5a400f" /><Relationship Type="http://schemas.openxmlformats.org/officeDocument/2006/relationships/notesSlide" Target="/ppt/notesSlides/notesSlide6.xml" Id="Rca95a51bbe074b67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chart1.xml><?xml version="1.0" encoding="utf-8"?>
<c:chartSpace xmlns:a="http://schemas.openxmlformats.org/drawingml/2006/main" xmlns:c="http://schemas.openxmlformats.org/drawingml/2006/chart" xmlns:r="http://schemas.openxmlformats.org/officeDocument/2006/relationships">
  <c:lang val="en-US"/>
  <c:chart>
    <c:title>
      <c:tx>
        <c:rich>
          <a:bodyPr/>
          <a:lstStyle/>
          <a:p>
            <a:r>
              <a:rPr sz="2175" b="1">
                <a:solidFill>
                  <a:srgbClr val="202428"/>
                </a:solidFill>
                <a:latin typeface="Arial"/>
                <a:ea typeface="Arial"/>
                <a:cs typeface="Arial"/>
              </a:rPr>
              <a:t>Pontos 1</a:t>
            </a:r>
          </a:p>
        </c:rich>
      </c:tx>
      <c:overlay val="0"/>
      <c:txPr>
        <a:bodyPr anchorCtr="1"/>
        <a:lstStyle/>
        <a:p>
          <a:pPr>
            <a:defRPr sz="2175" b="1">
              <a:solidFill>
                <a:srgbClr val="202428"/>
              </a:solidFill>
              <a:latin typeface="Arial"/>
              <a:ea typeface="Arial"/>
              <a:cs typeface="Arial"/>
            </a:defRPr>
          </a:pPr>
        </a:p>
      </c:txPr>
    </c:title>
    <c:plotArea>
      <c:barChart>
        <c:barDir val="col"/>
        <c:grouping val="clustered"/>
        <c:varyColors val="0"/>
        <c:ser>
          <c:idx val="0"/>
          <c:order val="0"/>
          <c:tx>
            <c:v>Simples</c:v>
          </c:tx>
          <c:spPr>
            <a:solidFill>
              <a:srgbClr val="426BA5"/>
            </a:solidFill>
          </c:spPr>
          <c:cat>
            <c:strRef>
              <c:f>'Chart Data'!$A$2:$A$4</c:f>
              <c:strCache>
                <c:ptCount val="3"/>
                <c:pt idx="0">
                  <c:v>Cenário 1</c:v>
                </c:pt>
                <c:pt idx="1">
                  <c:v>Cenário 2</c:v>
                </c:pt>
                <c:pt idx="2">
                  <c:v>Cenário 3</c:v>
                </c:pt>
              </c:strCache>
            </c:strRef>
          </c:cat>
          <c:val>
            <c:numRef>
              <c:f>'Chart Data'!$B$2:$B$4</c:f>
              <c:numCache>
                <c:formatCode>0</c:formatCode>
                <c:ptCount val="3"/>
                <c:pt idx="0">
                  <c:v>1174</c:v>
                </c:pt>
                <c:pt idx="1">
                  <c:v>1009</c:v>
                </c:pt>
                <c:pt idx="2">
                  <c:v>1009</c:v>
                </c:pt>
              </c:numCache>
            </c:numRef>
          </c:val>
        </c:ser>
        <c:ser>
          <c:idx val="1"/>
          <c:order val="1"/>
          <c:tx>
            <c:v>Com memória</c:v>
          </c:tx>
          <c:spPr>
            <a:solidFill>
              <a:srgbClr val="137968"/>
            </a:solidFill>
          </c:spPr>
          <c:cat>
            <c:strRef>
              <c:f>'Chart Data'!$C$2:$C$4</c:f>
              <c:strCache>
                <c:ptCount val="3"/>
                <c:pt idx="0">
                  <c:v>Cenário 1</c:v>
                </c:pt>
                <c:pt idx="1">
                  <c:v>Cenário 2</c:v>
                </c:pt>
                <c:pt idx="2">
                  <c:v>Cenário 3</c:v>
                </c:pt>
              </c:strCache>
            </c:strRef>
          </c:cat>
          <c:val>
            <c:numRef>
              <c:f>'Chart Data'!$D$2:$D$4</c:f>
              <c:numCache>
                <c:formatCode>0</c:formatCode>
                <c:ptCount val="3"/>
                <c:pt idx="0">
                  <c:v>1256</c:v>
                </c:pt>
                <c:pt idx="1">
                  <c:v>1083</c:v>
                </c:pt>
                <c:pt idx="2">
                  <c:v>1071</c:v>
                </c:pt>
              </c:numCache>
            </c:numRef>
          </c:val>
        </c:ser>
        <c:dLbls>
          <c:txPr>
            <a:bodyPr anchorCtr="1"/>
            <a:lstStyle/>
            <a:p>
              <a:pPr>
                <a:defRPr sz="1425">
                  <a:solidFill>
                    <a:srgbClr val="202428"/>
                  </a:solidFill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0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575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1400"/>
          <c:min val="0"/>
        </c:scaling>
        <c:delete val="0"/>
        <c:axPos val="l"/>
        <c:majorGridlines>
          <c:spPr>
            <a:ln w="9525">
              <a:solidFill>
                <a:srgbClr val="E2E5E7"/>
              </a:solidFill>
            </a:ln>
          </c:spPr>
        </c:majorGridlines>
        <c:numFmt formatCode="0"/>
        <c:majorTickMark val="none"/>
        <c:minorTickMark val="none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425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  <c:majorUnit val="350"/>
      </c:valAx>
    </c:plotArea>
    <c:legend>
      <c:legendPos val="b"/>
      <c:overlay val="0"/>
      <c:txPr>
        <a:bodyPr anchorCtr="1"/>
        <a:lstStyle/>
        <a:p>
          <a:pPr>
            <a:defRPr sz="1575">
              <a:latin typeface="Arial"/>
              <a:ea typeface="Arial"/>
              <a:cs typeface="Arial"/>
            </a:defRPr>
          </a:pPr>
        </a:p>
      </c:txPr>
    </c:legend>
    <c:plotVisOnly val="1"/>
  </c:chart>
  <c:externalData r:id="rIdChartSnapshot1">
    <c:autoUpdate val="0"/>
  </c:externalData>
</c:chartSpace>
</file>

<file path=ppt/slides/charts/chart2.xml><?xml version="1.0" encoding="utf-8"?>
<c:chartSpace xmlns:a="http://schemas.openxmlformats.org/drawingml/2006/main" xmlns:c="http://schemas.openxmlformats.org/drawingml/2006/chart" xmlns:r="http://schemas.openxmlformats.org/officeDocument/2006/relationships">
  <c:lang val="en-US"/>
  <c:chart>
    <c:title>
      <c:tx>
        <c:rich>
          <a:bodyPr/>
          <a:lstStyle/>
          <a:p>
            <a:r>
              <a:rPr sz="2175" b="1">
                <a:solidFill>
                  <a:srgbClr val="202428"/>
                </a:solidFill>
                <a:latin typeface="Arial"/>
                <a:ea typeface="Arial"/>
                <a:cs typeface="Arial"/>
              </a:rPr>
              <a:t>Pontos 2</a:t>
            </a:r>
          </a:p>
        </c:rich>
      </c:tx>
      <c:overlay val="0"/>
      <c:txPr>
        <a:bodyPr anchorCtr="1"/>
        <a:lstStyle/>
        <a:p>
          <a:pPr>
            <a:defRPr sz="2175" b="1">
              <a:solidFill>
                <a:srgbClr val="202428"/>
              </a:solidFill>
              <a:latin typeface="Arial"/>
              <a:ea typeface="Arial"/>
              <a:cs typeface="Arial"/>
            </a:defRPr>
          </a:pPr>
        </a:p>
      </c:txPr>
    </c:title>
    <c:plotArea>
      <c:barChart>
        <c:barDir val="col"/>
        <c:grouping val="clustered"/>
        <c:varyColors val="0"/>
        <c:ser>
          <c:idx val="0"/>
          <c:order val="0"/>
          <c:tx>
            <c:v>Simples</c:v>
          </c:tx>
          <c:spPr>
            <a:solidFill>
              <a:srgbClr val="426BA5"/>
            </a:solidFill>
          </c:spPr>
          <c:cat>
            <c:strRef>
              <c:f>'Chart Data'!$A$2:$A$4</c:f>
              <c:strCache>
                <c:ptCount val="3"/>
                <c:pt idx="0">
                  <c:v>Cenário 1</c:v>
                </c:pt>
                <c:pt idx="1">
                  <c:v>Cenário 2</c:v>
                </c:pt>
                <c:pt idx="2">
                  <c:v>Cenário 3</c:v>
                </c:pt>
              </c:strCache>
            </c:strRef>
          </c:cat>
          <c:val>
            <c:numRef>
              <c:f>'Chart Data'!$B$2:$B$4</c:f>
              <c:numCache>
                <c:formatCode>0</c:formatCode>
                <c:ptCount val="3"/>
                <c:pt idx="0">
                  <c:v>1098</c:v>
                </c:pt>
                <c:pt idx="1">
                  <c:v>932</c:v>
                </c:pt>
                <c:pt idx="2">
                  <c:v>933</c:v>
                </c:pt>
              </c:numCache>
            </c:numRef>
          </c:val>
        </c:ser>
        <c:ser>
          <c:idx val="1"/>
          <c:order val="1"/>
          <c:tx>
            <c:v>Com memória</c:v>
          </c:tx>
          <c:spPr>
            <a:solidFill>
              <a:srgbClr val="137968"/>
            </a:solidFill>
          </c:spPr>
          <c:cat>
            <c:strRef>
              <c:f>'Chart Data'!$C$2:$C$4</c:f>
              <c:strCache>
                <c:ptCount val="3"/>
                <c:pt idx="0">
                  <c:v>Cenário 1</c:v>
                </c:pt>
                <c:pt idx="1">
                  <c:v>Cenário 2</c:v>
                </c:pt>
                <c:pt idx="2">
                  <c:v>Cenário 3</c:v>
                </c:pt>
              </c:strCache>
            </c:strRef>
          </c:cat>
          <c:val>
            <c:numRef>
              <c:f>'Chart Data'!$D$2:$D$4</c:f>
              <c:numCache>
                <c:formatCode>0</c:formatCode>
                <c:ptCount val="3"/>
                <c:pt idx="0">
                  <c:v>1241</c:v>
                </c:pt>
                <c:pt idx="1">
                  <c:v>1070</c:v>
                </c:pt>
                <c:pt idx="2">
                  <c:v>1052</c:v>
                </c:pt>
              </c:numCache>
            </c:numRef>
          </c:val>
        </c:ser>
        <c:dLbls>
          <c:txPr>
            <a:bodyPr anchorCtr="1"/>
            <a:lstStyle/>
            <a:p>
              <a:pPr>
                <a:defRPr sz="1425">
                  <a:solidFill>
                    <a:srgbClr val="202428"/>
                  </a:solidFill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0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575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1400"/>
          <c:min val="0"/>
        </c:scaling>
        <c:delete val="0"/>
        <c:axPos val="l"/>
        <c:majorGridlines>
          <c:spPr>
            <a:ln w="9525">
              <a:solidFill>
                <a:srgbClr val="E2E5E7"/>
              </a:solidFill>
            </a:ln>
          </c:spPr>
        </c:majorGridlines>
        <c:numFmt formatCode="0"/>
        <c:majorTickMark val="none"/>
        <c:minorTickMark val="none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425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  <c:majorUnit val="350"/>
      </c:valAx>
    </c:plotArea>
    <c:legend>
      <c:legendPos val="b"/>
      <c:overlay val="0"/>
      <c:txPr>
        <a:bodyPr anchorCtr="1"/>
        <a:lstStyle/>
        <a:p>
          <a:pPr>
            <a:defRPr sz="1575">
              <a:latin typeface="Arial"/>
              <a:ea typeface="Arial"/>
              <a:cs typeface="Arial"/>
            </a:defRPr>
          </a:pPr>
        </a:p>
      </c:txPr>
    </c:legend>
    <c:plotVisOnly val="1"/>
  </c:chart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5881095-02CA-4609-BF44-53BF2F37A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2425"/>
            <a:ext cx="109728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675" b="1">
                <a:solidFill>
                  <a:srgbClr val="202428"/>
                </a:solidFill>
                <a:latin typeface="Arial"/>
                <a:ea typeface="Arial"/>
                <a:cs typeface="Arial"/>
              </a:defRPr>
            </a:pPr>
            <a:r>
              <a:rPr sz="3675" b="1">
                <a:solidFill>
                  <a:srgbClr val="202428"/>
                </a:solidFill>
                <a:latin typeface="Arial"/>
                <a:ea typeface="Arial"/>
                <a:cs typeface="Arial"/>
              </a:rPr>
              <a:t>Avaliação experimental</a:t>
            </a:r>
          </a:p>
          <a:p xmlns:a="http://schemas.openxmlformats.org/drawingml/2006/main">
            <a:pPr>
              <a:buNone/>
              <a:defRPr sz="3675" b="1">
                <a:solidFill>
                  <a:srgbClr val="202428"/>
                </a:solidFill>
                <a:latin typeface="Arial"/>
                <a:ea typeface="Arial"/>
                <a:cs typeface="Arial"/>
              </a:defRPr>
            </a:pPr>
            <a:r>
              <a:rPr sz="3675" b="1">
                <a:solidFill>
                  <a:srgbClr val="202428"/>
                </a:solidFill>
                <a:latin typeface="Arial"/>
                <a:ea typeface="Arial"/>
                <a:cs typeface="Arial"/>
              </a:rPr>
              <a:t>de agentes inteligentes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7E80715-300B-4BAA-B103-14DE59093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53175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535C62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35C62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DF2139-9637-4FD1-90F3-FE920B653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10972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0">
                <a:solidFill>
                  <a:srgbClr val="137968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37968"/>
                </a:solidFill>
                <a:latin typeface="Arial"/>
                <a:ea typeface="Arial"/>
                <a:cs typeface="Arial"/>
              </a:rPr>
              <a:t>Dois aspiradores em Python, com visualização passo a passo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3F425C3-B811-4441-8A91-8355CF385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95575"/>
            <a:ext cx="3143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4650" b="1">
                <a:solidFill>
                  <a:srgbClr val="426BA5"/>
                </a:solidFill>
                <a:latin typeface="Arial"/>
                <a:ea typeface="Arial"/>
                <a:cs typeface="Arial"/>
              </a:defRPr>
            </a:pPr>
            <a:r>
              <a:rPr sz="4650" b="1">
                <a:solidFill>
                  <a:srgbClr val="426BA5"/>
                </a:solidFill>
                <a:latin typeface="Arial"/>
                <a:ea typeface="Arial"/>
                <a:cs typeface="Arial"/>
              </a:rPr>
              <a:t>4 × 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00A14E5-59E2-444D-99BD-D5BA2F5BD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52950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1">
                <a:solidFill>
                  <a:srgbClr val="202428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02428"/>
                </a:solidFill>
                <a:latin typeface="Arial"/>
                <a:ea typeface="Arial"/>
                <a:cs typeface="Arial"/>
              </a:rPr>
              <a:t>Percepção local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C63AF13-EADF-41E3-8A3B-3415C9515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53025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0">
                <a:solidFill>
                  <a:srgbClr val="202428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02428"/>
                </a:solidFill>
                <a:latin typeface="Arial"/>
                <a:ea typeface="Arial"/>
                <a:cs typeface="Arial"/>
              </a:rPr>
              <a:t>Sujeira atual e passagens vizinhas. Sem conhecimento prévio do mapa.</a:t>
            </a:r>
          </a:p>
          <a:p xmlns:a="http://schemas.openxmlformats.org/drawingml/2006/main">
            <a:pPr>
              <a:buNone/>
              <a:defRPr sz="2025" b="0">
                <a:solidFill>
                  <a:srgbClr val="202428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02428"/>
                </a:solidFill>
                <a:latin typeface="Arial"/>
                <a:ea typeface="Arial"/>
                <a:cs typeface="Arial"/>
              </a:rPr>
              <a:t>Os dois agentes começam nas mesmas condições.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3555E7C-F4F5-422B-B06E-D1861539D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95675"/>
            <a:ext cx="31908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535C6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35C62"/>
                </a:solidFill>
                <a:latin typeface="Arial"/>
                <a:ea typeface="Arial"/>
                <a:cs typeface="Arial"/>
              </a:rPr>
              <a:t>dimensões do ambiente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AA132C3-704D-48F2-8049-02806A6FA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2695575"/>
            <a:ext cx="3143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4650" b="1">
                <a:solidFill>
                  <a:srgbClr val="137968"/>
                </a:solidFill>
                <a:latin typeface="Arial"/>
                <a:ea typeface="Arial"/>
                <a:cs typeface="Arial"/>
              </a:defRPr>
            </a:pPr>
            <a:r>
              <a:rPr sz="4650" b="1">
                <a:solidFill>
                  <a:srgbClr val="137968"/>
                </a:solidFill>
                <a:latin typeface="Arial"/>
                <a:ea typeface="Arial"/>
                <a:cs typeface="Arial"/>
              </a:rPr>
              <a:t>3 + 30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9215528-4878-440B-B631-4BF98E96C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3495675"/>
            <a:ext cx="31908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535C6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35C62"/>
                </a:solidFill>
                <a:latin typeface="Arial"/>
                <a:ea typeface="Arial"/>
                <a:cs typeface="Arial"/>
              </a:rPr>
              <a:t>cenários fixos + aleatórios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E52C3FF-DB8A-422F-B528-AF4041E47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695575"/>
            <a:ext cx="3143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4650" b="1">
                <a:solidFill>
                  <a:srgbClr val="426BA5"/>
                </a:solidFill>
                <a:latin typeface="Arial"/>
                <a:ea typeface="Arial"/>
                <a:cs typeface="Arial"/>
              </a:defRPr>
            </a:pPr>
            <a:r>
              <a:rPr sz="4650" b="1">
                <a:solidFill>
                  <a:srgbClr val="426BA5"/>
                </a:solidFill>
                <a:latin typeface="Arial"/>
                <a:ea typeface="Arial"/>
                <a:cs typeface="Arial"/>
              </a:rPr>
              <a:t>80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028FACE-DCBE-41BA-AD9E-4FB7A8CDA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495675"/>
            <a:ext cx="31908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535C6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35C62"/>
                </a:solidFill>
                <a:latin typeface="Arial"/>
                <a:ea typeface="Arial"/>
                <a:cs typeface="Arial"/>
              </a:rPr>
              <a:t>passos por execução</a:t>
            </a:r>
          </a:p>
        </p:txBody>
      </p:sp>
    </p:spTree>
    <p:extLst>
      <p:ext uri="{BB962C8B-B14F-4D97-AF65-F5344CB8AC3E}">
        <p14:creationId xmlns:p14="http://schemas.microsoft.com/office/powerpoint/2010/main" val="153603313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EE1BF8B-E15B-4DB4-928C-EA56D3F04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300" b="1">
                <a:solidFill>
                  <a:srgbClr val="202428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02428"/>
                </a:solidFill>
                <a:latin typeface="Arial"/>
                <a:ea typeface="Arial"/>
                <a:cs typeface="Arial"/>
              </a:rPr>
              <a:t>Como os agentes escolhem suas ações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6AD171E-FA40-4984-A341-319890218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53175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535C62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35C62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61340B-8773-4588-99B8-2E815BFDE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5238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75" b="1">
                <a:solidFill>
                  <a:srgbClr val="426BA5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426BA5"/>
                </a:solidFill>
                <a:latin typeface="Arial"/>
                <a:ea typeface="Arial"/>
                <a:cs typeface="Arial"/>
              </a:rPr>
              <a:t>Reativo simples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D961A9-BBAB-4166-87A1-9478ADA04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57425"/>
            <a:ext cx="523875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0">
                <a:solidFill>
                  <a:srgbClr val="202428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02428"/>
                </a:solidFill>
                <a:latin typeface="Arial"/>
                <a:ea typeface="Arial"/>
                <a:cs typeface="Arial"/>
              </a:rPr>
              <a:t>Sujo: aspira.</a:t>
            </a:r>
          </a:p>
          <a:p xmlns:a="http://schemas.openxmlformats.org/drawingml/2006/main">
            <a:pPr>
              <a:buNone/>
              <a:defRPr sz="2100" b="0">
                <a:solidFill>
                  <a:srgbClr val="202428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02428"/>
                </a:solidFill>
                <a:latin typeface="Arial"/>
                <a:ea typeface="Arial"/>
                <a:cs typeface="Arial"/>
              </a:rPr>
              <a:t/>
            </a:r>
          </a:p>
          <a:p xmlns:a="http://schemas.openxmlformats.org/drawingml/2006/main">
            <a:pPr>
              <a:buNone/>
              <a:defRPr sz="2025" b="0">
                <a:solidFill>
                  <a:srgbClr val="202428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02428"/>
                </a:solidFill>
                <a:latin typeface="Arial"/>
                <a:ea typeface="Arial"/>
                <a:cs typeface="Arial"/>
              </a:rPr>
              <a:t>Limpo: sorteia um caminho livre.</a:t>
            </a:r>
          </a:p>
          <a:p xmlns:a="http://schemas.openxmlformats.org/drawingml/2006/main">
            <a:pPr>
              <a:buNone/>
              <a:defRPr sz="2025" b="0">
                <a:solidFill>
                  <a:srgbClr val="202428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02428"/>
                </a:solidFill>
                <a:latin typeface="Arial"/>
                <a:ea typeface="Arial"/>
                <a:cs typeface="Arial"/>
              </a:rPr>
              <a:t>Não guarda os locais visitados.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D6B7FD-4F2A-40C0-944A-722DCF7E9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581150"/>
            <a:ext cx="5257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75" b="1">
                <a:solidFill>
                  <a:srgbClr val="137968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137968"/>
                </a:solidFill>
                <a:latin typeface="Arial"/>
                <a:ea typeface="Arial"/>
                <a:cs typeface="Arial"/>
              </a:rPr>
              <a:t>Reativo com memória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5419D38-7656-428F-AF22-514259537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257425"/>
            <a:ext cx="525780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0">
                <a:solidFill>
                  <a:srgbClr val="202428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02428"/>
                </a:solidFill>
                <a:latin typeface="Arial"/>
                <a:ea typeface="Arial"/>
                <a:cs typeface="Arial"/>
              </a:rPr>
              <a:t>Sujo: aspira.</a:t>
            </a:r>
          </a:p>
          <a:p xmlns:a="http://schemas.openxmlformats.org/drawingml/2006/main">
            <a:pPr>
              <a:buNone/>
              <a:defRPr sz="2100" b="0">
                <a:solidFill>
                  <a:srgbClr val="202428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02428"/>
                </a:solidFill>
                <a:latin typeface="Arial"/>
                <a:ea typeface="Arial"/>
                <a:cs typeface="Arial"/>
              </a:rPr>
              <a:t/>
            </a:r>
          </a:p>
          <a:p xmlns:a="http://schemas.openxmlformats.org/drawingml/2006/main">
            <a:pPr>
              <a:buNone/>
              <a:defRPr sz="2025" b="0">
                <a:solidFill>
                  <a:srgbClr val="202428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02428"/>
                </a:solidFill>
                <a:latin typeface="Arial"/>
                <a:ea typeface="Arial"/>
                <a:cs typeface="Arial"/>
              </a:rPr>
              <a:t>Explora pelo mapa conhecido.</a:t>
            </a:r>
          </a:p>
          <a:p xmlns:a="http://schemas.openxmlformats.org/drawingml/2006/main">
            <a:pPr>
              <a:buNone/>
              <a:defRPr sz="2025" b="0">
                <a:solidFill>
                  <a:srgbClr val="202428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02428"/>
                </a:solidFill>
                <a:latin typeface="Arial"/>
                <a:ea typeface="Arial"/>
                <a:cs typeface="Arial"/>
              </a:rPr>
              <a:t>Sem células a explorar: para.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F109614-4C5F-4EA7-BCDB-ACFD679D9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29125"/>
            <a:ext cx="10972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1">
                <a:solidFill>
                  <a:srgbClr val="137968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37968"/>
                </a:solidFill>
                <a:latin typeface="Arial"/>
                <a:ea typeface="Arial"/>
                <a:cs typeface="Arial"/>
              </a:rPr>
              <a:t>Atualização do estado interno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D61D564-F480-4B4C-9DB3-560CD890E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29200"/>
            <a:ext cx="109728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0">
                <a:solidFill>
                  <a:srgbClr val="202428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02428"/>
                </a:solidFill>
                <a:latin typeface="Arial"/>
                <a:ea typeface="Arial"/>
                <a:cs typeface="Arial"/>
              </a:rPr>
              <a:t>Registra células, visitas e posição a partir das percepções locais.</a:t>
            </a:r>
          </a:p>
          <a:p xmlns:a="http://schemas.openxmlformats.org/drawingml/2006/main">
            <a:pPr>
              <a:buNone/>
              <a:defRPr sz="2100" b="0">
                <a:solidFill>
                  <a:srgbClr val="202428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02428"/>
                </a:solidFill>
                <a:latin typeface="Arial"/>
                <a:ea typeface="Arial"/>
                <a:cs typeface="Arial"/>
              </a:rPr>
              <a:t>Busca em largura encontra a célula não visitada mais próxima.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CCD1963-F6BF-49AA-AD13-FDFD56E98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5E8"/>
            </a:solidFill>
          </a:ln>
        </p:spPr>
      </p:sp>
    </p:spTree>
    <p:extLst>
      <p:ext uri="{BB962C8B-B14F-4D97-AF65-F5344CB8AC3E}">
        <p14:creationId xmlns:p14="http://schemas.microsoft.com/office/powerpoint/2010/main" val="139936362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4553FA1-FABD-41A6-BFB5-4BED50036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300" b="1">
                <a:solidFill>
                  <a:srgbClr val="202428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02428"/>
                </a:solidFill>
                <a:latin typeface="Arial"/>
                <a:ea typeface="Arial"/>
                <a:cs typeface="Arial"/>
              </a:rPr>
              <a:t>Regras de avaliação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342F45-FA8A-4E3D-B41F-083C2D4CA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53175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535C62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35C62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13AAB2-D95C-4D07-B49F-C359A1B53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109728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625" b="1">
                <a:solidFill>
                  <a:srgbClr val="426BA5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426BA5"/>
                </a:solidFill>
                <a:latin typeface="Arial"/>
                <a:ea typeface="Arial"/>
                <a:cs typeface="Arial"/>
              </a:rPr>
              <a:t>Pontos 1: limpeza acumulada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3409B5-B066-4019-8B10-C4BA1894B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76475"/>
            <a:ext cx="10972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0">
                <a:solidFill>
                  <a:srgbClr val="202428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02428"/>
                </a:solidFill>
                <a:latin typeface="Arial"/>
                <a:ea typeface="Arial"/>
                <a:cs typeface="Arial"/>
              </a:rPr>
              <a:t>Somar os quadrados limpos ao fim de cada período.</a:t>
            </a:r>
          </a:p>
          <a:p xmlns:a="http://schemas.openxmlformats.org/drawingml/2006/main">
            <a:pPr>
              <a:buNone/>
              <a:defRPr sz="2250" b="0">
                <a:solidFill>
                  <a:srgbClr val="202428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02428"/>
                </a:solidFill>
                <a:latin typeface="Arial"/>
                <a:ea typeface="Arial"/>
                <a:cs typeface="Arial"/>
              </a:rPr>
              <a:t>Limpar mais cedo aumenta a pontuação.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817C48A-2A0F-432F-A91A-E30F3251B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14750"/>
            <a:ext cx="109728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625" b="1">
                <a:solidFill>
                  <a:srgbClr val="137968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37968"/>
                </a:solidFill>
                <a:latin typeface="Arial"/>
                <a:ea typeface="Arial"/>
                <a:cs typeface="Arial"/>
              </a:rPr>
              <a:t>Pontos 2: Pontos 1 menos movimentos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FF4474D-CA80-4C29-8EAD-EC1AB11B3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71975"/>
            <a:ext cx="10972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0">
                <a:solidFill>
                  <a:srgbClr val="202428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02428"/>
                </a:solidFill>
                <a:latin typeface="Arial"/>
                <a:ea typeface="Arial"/>
                <a:cs typeface="Arial"/>
              </a:rPr>
              <a:t>Cada movimento desconta um ponto.</a:t>
            </a:r>
          </a:p>
          <a:p xmlns:a="http://schemas.openxmlformats.org/drawingml/2006/main">
            <a:pPr>
              <a:buNone/>
              <a:defRPr sz="2100" b="0">
                <a:solidFill>
                  <a:srgbClr val="202428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02428"/>
                </a:solidFill>
                <a:latin typeface="Arial"/>
                <a:ea typeface="Arial"/>
                <a:cs typeface="Arial"/>
              </a:rPr>
              <a:t>Interpretação adotada para a segunda medida do enunciado.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86040A2-9522-43C3-BED0-8821A7D8A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53100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0">
                <a:solidFill>
                  <a:srgbClr val="535C62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35C62"/>
                </a:solidFill>
                <a:latin typeface="Arial"/>
                <a:ea typeface="Arial"/>
                <a:cs typeface="Arial"/>
              </a:rPr>
              <a:t>Uma ação por período. Obstáculos não pontuam. Não aparece sujeira nova.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6A0B44B-4115-4278-99A8-C57D4663D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5E8"/>
            </a:solidFill>
          </a:ln>
        </p:spPr>
      </p:sp>
    </p:spTree>
    <p:extLst>
      <p:ext uri="{BB962C8B-B14F-4D97-AF65-F5344CB8AC3E}">
        <p14:creationId xmlns:p14="http://schemas.microsoft.com/office/powerpoint/2010/main" val="138875486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6DDD889-DA68-496A-BEE5-8DC2E6DF2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300" b="1">
                <a:solidFill>
                  <a:srgbClr val="202428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02428"/>
                </a:solidFill>
                <a:latin typeface="Arial"/>
                <a:ea typeface="Arial"/>
                <a:cs typeface="Arial"/>
              </a:rPr>
              <a:t>Resultados dos três cenários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9F8B63F-FEEB-4257-9290-9242E314C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53175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535C62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35C62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graphicFrame>
        <p:nvGraphicFramePr>
          <p:cNvPr id="14" name=""/>
          <p:cNvGraphicFramePr/>
          <p:nvPr/>
        </p:nvGraphicFramePr>
        <p:xfrm>
          <a:off xmlns:a="http://schemas.openxmlformats.org/drawingml/2006/main" x="609600" y="1628775"/>
          <a:ext xmlns:a="http://schemas.openxmlformats.org/drawingml/2006/main" cx="10972800" cy="33528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181100"/>
                <a:gridCol w="2400300"/>
                <a:gridCol w="1905000"/>
                <a:gridCol w="1905000"/>
                <a:gridCol w="1790700"/>
                <a:gridCol w="1790700"/>
              </a:tblGrid>
              <a:tr h="4762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Cenário</a:t>
                      </a:r>
                    </a:p>
                  </a:txBody>
                  <a:tcPr marL="114300" marR="95250" marT="95250" marB="76200">
                    <a:solidFill>
                      <a:srgbClr val="426BA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Agente</a:t>
                      </a:r>
                    </a:p>
                  </a:txBody>
                  <a:tcPr marL="114300" marR="95250" marT="95250" marB="76200">
                    <a:solidFill>
                      <a:srgbClr val="426BA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Sujeira final</a:t>
                      </a:r>
                    </a:p>
                  </a:txBody>
                  <a:tcPr marL="114300" marR="95250" marT="95250" marB="76200">
                    <a:solidFill>
                      <a:srgbClr val="426BA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Movimentos</a:t>
                      </a:r>
                    </a:p>
                  </a:txBody>
                  <a:tcPr marL="114300" marR="95250" marT="95250" marB="76200">
                    <a:solidFill>
                      <a:srgbClr val="426BA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Pontos 1</a:t>
                      </a:r>
                    </a:p>
                  </a:txBody>
                  <a:tcPr marL="114300" marR="95250" marT="95250" marB="76200">
                    <a:solidFill>
                      <a:srgbClr val="426BA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Pontos 2</a:t>
                      </a:r>
                    </a:p>
                  </a:txBody>
                  <a:tcPr marL="114300" marR="95250" marT="95250" marB="76200">
                    <a:solidFill>
                      <a:srgbClr val="426BA5"/>
                    </a:solidFill>
                  </a:tcPr>
                </a:tc>
              </a:tr>
              <a:tr h="4762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428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</a:p>
                  </a:txBody>
                  <a:tcPr marL="114300" marR="95250" marT="9525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426BA5"/>
                          </a:solidFill>
                          <a:latin typeface="Arial"/>
                          <a:ea typeface="Arial"/>
                          <a:cs typeface="Arial"/>
                        </a:rPr>
                        <a:t>Simples</a:t>
                      </a:r>
                    </a:p>
                  </a:txBody>
                  <a:tcPr marL="114300" marR="95250" marT="9525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428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114300" marR="95250" marT="9525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428"/>
                          </a:solidFill>
                          <a:latin typeface="Arial"/>
                          <a:ea typeface="Arial"/>
                          <a:cs typeface="Arial"/>
                        </a:rPr>
                        <a:t>76</a:t>
                      </a:r>
                    </a:p>
                  </a:txBody>
                  <a:tcPr marL="114300" marR="95250" marT="9525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428"/>
                          </a:solidFill>
                          <a:latin typeface="Arial"/>
                          <a:ea typeface="Arial"/>
                          <a:cs typeface="Arial"/>
                        </a:rPr>
                        <a:t>1174</a:t>
                      </a:r>
                    </a:p>
                  </a:txBody>
                  <a:tcPr marL="114300" marR="95250" marT="9525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428"/>
                          </a:solidFill>
                          <a:latin typeface="Arial"/>
                          <a:ea typeface="Arial"/>
                          <a:cs typeface="Arial"/>
                        </a:rPr>
                        <a:t>1098</a:t>
                      </a:r>
                    </a:p>
                  </a:txBody>
                  <a:tcPr marL="114300" marR="95250" marT="95250" marB="76200">
                    <a:solidFill>
                      <a:srgbClr val="FFFFFF"/>
                    </a:solidFill>
                  </a:tcPr>
                </a:tc>
              </a:tr>
              <a:tr h="4762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428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</a:p>
                  </a:txBody>
                  <a:tcPr marL="114300" marR="95250" marT="95250" marB="76200">
                    <a:solidFill>
                      <a:srgbClr val="F1F7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37968"/>
                          </a:solidFill>
                          <a:latin typeface="Arial"/>
                          <a:ea typeface="Arial"/>
                          <a:cs typeface="Arial"/>
                        </a:rPr>
                        <a:t>Com memória</a:t>
                      </a:r>
                    </a:p>
                  </a:txBody>
                  <a:tcPr marL="114300" marR="95250" marT="95250" marB="76200">
                    <a:solidFill>
                      <a:srgbClr val="F1F7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428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114300" marR="95250" marT="95250" marB="76200">
                    <a:solidFill>
                      <a:srgbClr val="F1F7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428"/>
                          </a:solidFill>
                          <a:latin typeface="Arial"/>
                          <a:ea typeface="Arial"/>
                          <a:cs typeface="Arial"/>
                        </a:rPr>
                        <a:t>15</a:t>
                      </a:r>
                    </a:p>
                  </a:txBody>
                  <a:tcPr marL="114300" marR="95250" marT="95250" marB="76200">
                    <a:solidFill>
                      <a:srgbClr val="F1F7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428"/>
                          </a:solidFill>
                          <a:latin typeface="Arial"/>
                          <a:ea typeface="Arial"/>
                          <a:cs typeface="Arial"/>
                        </a:rPr>
                        <a:t>1256</a:t>
                      </a:r>
                    </a:p>
                  </a:txBody>
                  <a:tcPr marL="114300" marR="95250" marT="95250" marB="76200">
                    <a:solidFill>
                      <a:srgbClr val="F1F7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428"/>
                          </a:solidFill>
                          <a:latin typeface="Arial"/>
                          <a:ea typeface="Arial"/>
                          <a:cs typeface="Arial"/>
                        </a:rPr>
                        <a:t>1241</a:t>
                      </a:r>
                    </a:p>
                  </a:txBody>
                  <a:tcPr marL="114300" marR="95250" marT="95250" marB="76200">
                    <a:solidFill>
                      <a:srgbClr val="F1F7F5"/>
                    </a:solidFill>
                  </a:tcPr>
                </a:tc>
              </a:tr>
              <a:tr h="4762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428"/>
                          </a:solidFill>
                          <a:latin typeface="Arial"/>
                          <a:ea typeface="Arial"/>
                          <a:cs typeface="Arial"/>
                        </a:rPr>
                        <a:t>2</a:t>
                      </a:r>
                    </a:p>
                  </a:txBody>
                  <a:tcPr marL="114300" marR="95250" marT="9525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426BA5"/>
                          </a:solidFill>
                          <a:latin typeface="Arial"/>
                          <a:ea typeface="Arial"/>
                          <a:cs typeface="Arial"/>
                        </a:rPr>
                        <a:t>Simples</a:t>
                      </a:r>
                    </a:p>
                  </a:txBody>
                  <a:tcPr marL="114300" marR="95250" marT="9525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428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</a:p>
                  </a:txBody>
                  <a:tcPr marL="114300" marR="95250" marT="9525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428"/>
                          </a:solidFill>
                          <a:latin typeface="Arial"/>
                          <a:ea typeface="Arial"/>
                          <a:cs typeface="Arial"/>
                        </a:rPr>
                        <a:t>77</a:t>
                      </a:r>
                    </a:p>
                  </a:txBody>
                  <a:tcPr marL="114300" marR="95250" marT="9525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428"/>
                          </a:solidFill>
                          <a:latin typeface="Arial"/>
                          <a:ea typeface="Arial"/>
                          <a:cs typeface="Arial"/>
                        </a:rPr>
                        <a:t>1009</a:t>
                      </a:r>
                    </a:p>
                  </a:txBody>
                  <a:tcPr marL="114300" marR="95250" marT="9525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428"/>
                          </a:solidFill>
                          <a:latin typeface="Arial"/>
                          <a:ea typeface="Arial"/>
                          <a:cs typeface="Arial"/>
                        </a:rPr>
                        <a:t>932</a:t>
                      </a:r>
                    </a:p>
                  </a:txBody>
                  <a:tcPr marL="114300" marR="95250" marT="95250" marB="76200">
                    <a:solidFill>
                      <a:srgbClr val="FFFFFF"/>
                    </a:solidFill>
                  </a:tcPr>
                </a:tc>
              </a:tr>
              <a:tr h="4762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428"/>
                          </a:solidFill>
                          <a:latin typeface="Arial"/>
                          <a:ea typeface="Arial"/>
                          <a:cs typeface="Arial"/>
                        </a:rPr>
                        <a:t>2</a:t>
                      </a:r>
                    </a:p>
                  </a:txBody>
                  <a:tcPr marL="114300" marR="95250" marT="95250" marB="76200">
                    <a:solidFill>
                      <a:srgbClr val="F1F7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37968"/>
                          </a:solidFill>
                          <a:latin typeface="Arial"/>
                          <a:ea typeface="Arial"/>
                          <a:cs typeface="Arial"/>
                        </a:rPr>
                        <a:t>Com memória</a:t>
                      </a:r>
                    </a:p>
                  </a:txBody>
                  <a:tcPr marL="114300" marR="95250" marT="95250" marB="76200">
                    <a:solidFill>
                      <a:srgbClr val="F1F7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428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114300" marR="95250" marT="95250" marB="76200">
                    <a:solidFill>
                      <a:srgbClr val="F1F7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428"/>
                          </a:solidFill>
                          <a:latin typeface="Arial"/>
                          <a:ea typeface="Arial"/>
                          <a:cs typeface="Arial"/>
                        </a:rPr>
                        <a:t>13</a:t>
                      </a:r>
                    </a:p>
                  </a:txBody>
                  <a:tcPr marL="114300" marR="95250" marT="95250" marB="76200">
                    <a:solidFill>
                      <a:srgbClr val="F1F7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428"/>
                          </a:solidFill>
                          <a:latin typeface="Arial"/>
                          <a:ea typeface="Arial"/>
                          <a:cs typeface="Arial"/>
                        </a:rPr>
                        <a:t>1083</a:t>
                      </a:r>
                    </a:p>
                  </a:txBody>
                  <a:tcPr marL="114300" marR="95250" marT="95250" marB="76200">
                    <a:solidFill>
                      <a:srgbClr val="F1F7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428"/>
                          </a:solidFill>
                          <a:latin typeface="Arial"/>
                          <a:ea typeface="Arial"/>
                          <a:cs typeface="Arial"/>
                        </a:rPr>
                        <a:t>1070</a:t>
                      </a:r>
                    </a:p>
                  </a:txBody>
                  <a:tcPr marL="114300" marR="95250" marT="95250" marB="76200">
                    <a:solidFill>
                      <a:srgbClr val="F1F7F5"/>
                    </a:solidFill>
                  </a:tcPr>
                </a:tc>
              </a:tr>
              <a:tr h="4762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428"/>
                          </a:solidFill>
                          <a:latin typeface="Arial"/>
                          <a:ea typeface="Arial"/>
                          <a:cs typeface="Arial"/>
                        </a:rPr>
                        <a:t>3</a:t>
                      </a:r>
                    </a:p>
                  </a:txBody>
                  <a:tcPr marL="114300" marR="95250" marT="9525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426BA5"/>
                          </a:solidFill>
                          <a:latin typeface="Arial"/>
                          <a:ea typeface="Arial"/>
                          <a:cs typeface="Arial"/>
                        </a:rPr>
                        <a:t>Simples</a:t>
                      </a:r>
                    </a:p>
                  </a:txBody>
                  <a:tcPr marL="114300" marR="95250" marT="9525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428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114300" marR="95250" marT="9525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428"/>
                          </a:solidFill>
                          <a:latin typeface="Arial"/>
                          <a:ea typeface="Arial"/>
                          <a:cs typeface="Arial"/>
                        </a:rPr>
                        <a:t>76</a:t>
                      </a:r>
                    </a:p>
                  </a:txBody>
                  <a:tcPr marL="114300" marR="95250" marT="9525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428"/>
                          </a:solidFill>
                          <a:latin typeface="Arial"/>
                          <a:ea typeface="Arial"/>
                          <a:cs typeface="Arial"/>
                        </a:rPr>
                        <a:t>1009</a:t>
                      </a:r>
                    </a:p>
                  </a:txBody>
                  <a:tcPr marL="114300" marR="95250" marT="9525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428"/>
                          </a:solidFill>
                          <a:latin typeface="Arial"/>
                          <a:ea typeface="Arial"/>
                          <a:cs typeface="Arial"/>
                        </a:rPr>
                        <a:t>933</a:t>
                      </a:r>
                    </a:p>
                  </a:txBody>
                  <a:tcPr marL="114300" marR="95250" marT="95250" marB="76200">
                    <a:solidFill>
                      <a:srgbClr val="FFFFFF"/>
                    </a:solidFill>
                  </a:tcPr>
                </a:tc>
              </a:tr>
              <a:tr h="4762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428"/>
                          </a:solidFill>
                          <a:latin typeface="Arial"/>
                          <a:ea typeface="Arial"/>
                          <a:cs typeface="Arial"/>
                        </a:rPr>
                        <a:t>3</a:t>
                      </a:r>
                    </a:p>
                  </a:txBody>
                  <a:tcPr marL="114300" marR="95250" marT="95250" marB="76200">
                    <a:solidFill>
                      <a:srgbClr val="F1F7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37968"/>
                          </a:solidFill>
                          <a:latin typeface="Arial"/>
                          <a:ea typeface="Arial"/>
                          <a:cs typeface="Arial"/>
                        </a:rPr>
                        <a:t>Com memória</a:t>
                      </a:r>
                    </a:p>
                  </a:txBody>
                  <a:tcPr marL="114300" marR="95250" marT="95250" marB="76200">
                    <a:solidFill>
                      <a:srgbClr val="F1F7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428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114300" marR="95250" marT="95250" marB="76200">
                    <a:solidFill>
                      <a:srgbClr val="F1F7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428"/>
                          </a:solidFill>
                          <a:latin typeface="Arial"/>
                          <a:ea typeface="Arial"/>
                          <a:cs typeface="Arial"/>
                        </a:rPr>
                        <a:t>19</a:t>
                      </a:r>
                    </a:p>
                  </a:txBody>
                  <a:tcPr marL="114300" marR="95250" marT="95250" marB="76200">
                    <a:solidFill>
                      <a:srgbClr val="F1F7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428"/>
                          </a:solidFill>
                          <a:latin typeface="Arial"/>
                          <a:ea typeface="Arial"/>
                          <a:cs typeface="Arial"/>
                        </a:rPr>
                        <a:t>1071</a:t>
                      </a:r>
                    </a:p>
                  </a:txBody>
                  <a:tcPr marL="114300" marR="95250" marT="95250" marB="76200">
                    <a:solidFill>
                      <a:srgbClr val="F1F7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428"/>
                          </a:solidFill>
                          <a:latin typeface="Arial"/>
                          <a:ea typeface="Arial"/>
                          <a:cs typeface="Arial"/>
                        </a:rPr>
                        <a:t>1052</a:t>
                      </a:r>
                    </a:p>
                  </a:txBody>
                  <a:tcPr marL="114300" marR="95250" marT="95250" marB="76200">
                    <a:solidFill>
                      <a:srgbClr val="F1F7F5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052AE3-04FD-4445-A255-BB2E074C4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76850"/>
            <a:ext cx="523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426BA5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426BA5"/>
                </a:solidFill>
                <a:latin typeface="Arial"/>
                <a:ea typeface="Arial"/>
                <a:cs typeface="Arial"/>
              </a:rPr>
              <a:t>Médias: Simples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9369E4-9D93-440F-B12A-80EA1BB3D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53100"/>
            <a:ext cx="52863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202428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02428"/>
                </a:solidFill>
                <a:latin typeface="Arial"/>
                <a:ea typeface="Arial"/>
                <a:cs typeface="Arial"/>
              </a:rPr>
              <a:t>Pontos 1: 1064,00     Pontos 2: 987,67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05ACF9F-CC44-4E92-8C70-4C13029F5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5E8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4809A05-6862-4C63-A2A5-96FC783A8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5276850"/>
            <a:ext cx="5257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137968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37968"/>
                </a:solidFill>
                <a:latin typeface="Arial"/>
                <a:ea typeface="Arial"/>
                <a:cs typeface="Arial"/>
              </a:rPr>
              <a:t>Médias: Com memória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AD8C1AF-A2C2-4B2A-8F18-A747D1C9E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5753100"/>
            <a:ext cx="52578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202428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02428"/>
                </a:solidFill>
                <a:latin typeface="Arial"/>
                <a:ea typeface="Arial"/>
                <a:cs typeface="Arial"/>
              </a:rPr>
              <a:t>Pontos 1: 1136,67     Pontos 2: 1121,00</a:t>
            </a:r>
          </a:p>
        </p:txBody>
      </p:sp>
    </p:spTree>
    <p:extLst>
      <p:ext uri="{BB962C8B-B14F-4D97-AF65-F5344CB8AC3E}">
        <p14:creationId xmlns:p14="http://schemas.microsoft.com/office/powerpoint/2010/main" val="75230857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696783D-0044-40F1-9BD3-C47C2B49F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300" b="1">
                <a:solidFill>
                  <a:srgbClr val="202428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02428"/>
                </a:solidFill>
                <a:latin typeface="Arial"/>
                <a:ea typeface="Arial"/>
                <a:cs typeface="Arial"/>
              </a:rPr>
              <a:t>Comparação das pontuações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0B51AD-2E55-4A50-8655-4440954B7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53175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535C62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35C62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graphicFrame>
        <p:nvGraphicFramePr>
          <p:cNvPr id="14" name="Chart"/>
          <p:cNvGraphicFramePr/>
          <p:nvPr/>
        </p:nvGraphicFramePr>
        <p:xfrm>
          <a:off xmlns:a="http://schemas.openxmlformats.org/drawingml/2006/main" x="609600" y="1619250"/>
          <a:ext xmlns:a="http://schemas.openxmlformats.org/drawingml/2006/main" cx="5353050" cy="40290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a97e6cd2607c4805"/>
          </a:graphicData>
        </a:graphic>
      </p:graphicFrame>
      <p:graphicFrame>
        <p:nvGraphicFramePr>
          <p:cNvPr id="15" name="Chart"/>
          <p:cNvGraphicFramePr/>
          <p:nvPr/>
        </p:nvGraphicFramePr>
        <p:xfrm>
          <a:off xmlns:a="http://schemas.openxmlformats.org/drawingml/2006/main" x="6229350" y="1619250"/>
          <a:ext xmlns:a="http://schemas.openxmlformats.org/drawingml/2006/main" cx="5353050" cy="40290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da0fd64027324027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4E009AA-2B5B-4CC4-9564-6ACFD1BC8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34075"/>
            <a:ext cx="1097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137968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37968"/>
                </a:solidFill>
                <a:latin typeface="Arial"/>
                <a:ea typeface="Arial"/>
                <a:cs typeface="Arial"/>
              </a:rPr>
              <a:t>Média aleatória em Pontos 2: 1031,60 (simples) e 1146,80 (memória).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E592944-DA54-4381-8339-793C52575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5E8"/>
            </a:solidFill>
          </a:ln>
        </p:spPr>
      </p:sp>
    </p:spTree>
    <p:extLst>
      <p:ext uri="{BB962C8B-B14F-4D97-AF65-F5344CB8AC3E}">
        <p14:creationId xmlns:p14="http://schemas.microsoft.com/office/powerpoint/2010/main" val="204369819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AC56D2A-433C-44E0-BA8C-13F561680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300" b="1">
                <a:solidFill>
                  <a:srgbClr val="202428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02428"/>
                </a:solidFill>
                <a:latin typeface="Arial"/>
                <a:ea typeface="Arial"/>
                <a:cs typeface="Arial"/>
              </a:rPr>
              <a:t>Racionalidade e limites do experimento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1986B3-7C6F-4D4D-8814-DC1BA3257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53175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535C62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35C62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46F278-8560-4F92-B569-CDC21E8AF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09725"/>
            <a:ext cx="109728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625" b="1">
                <a:solidFill>
                  <a:srgbClr val="137968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37968"/>
                </a:solidFill>
                <a:latin typeface="Arial"/>
                <a:ea typeface="Arial"/>
                <a:cs typeface="Arial"/>
              </a:rPr>
              <a:t>O mapa interno orienta a exploração</a:t>
            </a:r>
          </a:p>
          <a:p xmlns:a="http://schemas.openxmlformats.org/drawingml/2006/main">
            <a:pPr>
              <a:buNone/>
              <a:defRPr sz="2625" b="1">
                <a:solidFill>
                  <a:srgbClr val="137968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37968"/>
                </a:solidFill>
                <a:latin typeface="Arial"/>
                <a:ea typeface="Arial"/>
                <a:cs typeface="Arial"/>
              </a:rPr>
              <a:t>e permite parar após concluir a limpeza.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D6D28E-4858-403B-A684-B9463365F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67025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1">
                <a:solidFill>
                  <a:srgbClr val="426BA5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426BA5"/>
                </a:solidFill>
                <a:latin typeface="Arial"/>
                <a:ea typeface="Arial"/>
                <a:cs typeface="Arial"/>
              </a:rPr>
              <a:t>Parada após explorar a região alcançável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B29094-6D54-4DF3-BDAA-F7383F457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48050"/>
            <a:ext cx="109728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0">
                <a:solidFill>
                  <a:srgbClr val="202428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02428"/>
                </a:solidFill>
                <a:latin typeface="Arial"/>
                <a:ea typeface="Arial"/>
                <a:cs typeface="Arial"/>
              </a:rPr>
              <a:t>Com memória: parada nos passos 20, 18 e 24.</a:t>
            </a:r>
          </a:p>
          <a:p xmlns:a="http://schemas.openxmlformats.org/drawingml/2006/main">
            <a:pPr>
              <a:buNone/>
              <a:defRPr sz="2100" b="0">
                <a:solidFill>
                  <a:srgbClr val="202428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02428"/>
                </a:solidFill>
                <a:latin typeface="Arial"/>
                <a:ea typeface="Arial"/>
                <a:cs typeface="Arial"/>
              </a:rPr>
              <a:t>O simples continua andando até completar 80 períodos.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E8C10C-1A39-4F69-A07D-3256B186D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57750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1">
                <a:solidFill>
                  <a:srgbClr val="426BA5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426BA5"/>
                </a:solidFill>
                <a:latin typeface="Arial"/>
                <a:ea typeface="Arial"/>
                <a:cs typeface="Arial"/>
              </a:rPr>
              <a:t>Alcance da conclusão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135B9B-F221-47A7-8515-8682570C8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10200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0">
                <a:solidFill>
                  <a:srgbClr val="202428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02428"/>
                </a:solidFill>
                <a:latin typeface="Arial"/>
                <a:ea typeface="Arial"/>
                <a:cs typeface="Arial"/>
              </a:rPr>
              <a:t>Maior pontuação P2 nos 30 mapas, frente à média do agente simples.</a:t>
            </a:r>
          </a:p>
          <a:p xmlns:a="http://schemas.openxmlformats.org/drawingml/2006/main">
            <a:pPr>
              <a:buNone/>
              <a:defRPr sz="2100" b="0">
                <a:solidFill>
                  <a:srgbClr val="202428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02428"/>
                </a:solidFill>
                <a:latin typeface="Arial"/>
                <a:ea typeface="Arial"/>
                <a:cs typeface="Arial"/>
              </a:rPr>
              <a:t>Grade fixa, até dois obstáculos e cinco sementes limitam a conclusão.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DE3B2ED-81C0-429A-BA4B-71E573901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5E8"/>
            </a:solidFill>
          </a:ln>
        </p:spPr>
      </p:sp>
    </p:spTree>
    <p:extLst>
      <p:ext uri="{BB962C8B-B14F-4D97-AF65-F5344CB8AC3E}">
        <p14:creationId xmlns:p14="http://schemas.microsoft.com/office/powerpoint/2010/main" val="38895757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2026-09-29T02:44:36.8220000Z</dcterms:created>
  <dcterms:modified xsi:type="dcterms:W3CDTF">2026-09-29T02:44:36.8220000Z</dcterms:modified>
</coreProperties>
</file>