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05748861417457a" /><Relationship Type="http://schemas.openxmlformats.org/officeDocument/2006/relationships/extended-properties" Target="/docProps/app.xml" Id="Ra042f8df86b14f2e" /><Relationship Type="http://schemas.openxmlformats.org/officeDocument/2006/relationships/officeDocument" Target="/ppt/presentation.xml" Id="R0507c7c8b78e42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0e5b23ae9b4c9f"/>
  </p:sldMasterIdLst>
  <p:notesMasterIdLst>
    <p:notesMasterId xmlns:r="http://schemas.openxmlformats.org/officeDocument/2006/relationships" r:id="R18d42d37de3545f9"/>
  </p:notesMasterIdLst>
  <p:sldIdLst>
    <p:sldId xmlns:r="http://schemas.openxmlformats.org/officeDocument/2006/relationships" id="256" r:id="R0d42891dae0b4c1f"/>
    <p:sldId xmlns:r="http://schemas.openxmlformats.org/officeDocument/2006/relationships" id="257" r:id="R4d47985ac1af4403"/>
    <p:sldId xmlns:r="http://schemas.openxmlformats.org/officeDocument/2006/relationships" id="258" r:id="Rc7f8738873994ac1"/>
    <p:sldId xmlns:r="http://schemas.openxmlformats.org/officeDocument/2006/relationships" id="259" r:id="Rbbe8368241494daf"/>
    <p:sldId xmlns:r="http://schemas.openxmlformats.org/officeDocument/2006/relationships" id="260" r:id="Rc8a1fa1836e14358"/>
    <p:sldId xmlns:r="http://schemas.openxmlformats.org/officeDocument/2006/relationships" id="261" r:id="R9e6183b9f0b2404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fa660138da41c9" /><Relationship Type="http://schemas.openxmlformats.org/officeDocument/2006/relationships/slideMaster" Target="/ppt/slideMasters/slideMaster1.xml" Id="Ra70e5b23ae9b4c9f" /><Relationship Type="http://schemas.openxmlformats.org/officeDocument/2006/relationships/notesMaster" Target="/ppt/notesMasters/notesMaster1.xml" Id="R18d42d37de3545f9" /><Relationship Type="http://schemas.openxmlformats.org/officeDocument/2006/relationships/presProps" Target="/ppt/presProps.xml" Id="R7ad967c1c1fb4171" /><Relationship Type="http://schemas.openxmlformats.org/officeDocument/2006/relationships/tableStyles" Target="/ppt/tableStyles.xml" Id="Rb1f92578be0c4301" /><Relationship Type="http://schemas.openxmlformats.org/officeDocument/2006/relationships/slide" Target="/ppt/slides/slide1.xml" Id="R0d42891dae0b4c1f" /><Relationship Type="http://schemas.openxmlformats.org/officeDocument/2006/relationships/slide" Target="/ppt/slides/slide2.xml" Id="R4d47985ac1af4403" /><Relationship Type="http://schemas.openxmlformats.org/officeDocument/2006/relationships/slide" Target="/ppt/slides/slide3.xml" Id="Rc7f8738873994ac1" /><Relationship Type="http://schemas.openxmlformats.org/officeDocument/2006/relationships/slide" Target="/ppt/slides/slide4.xml" Id="Rbbe8368241494daf" /><Relationship Type="http://schemas.openxmlformats.org/officeDocument/2006/relationships/slide" Target="/ppt/slides/slide5.xml" Id="Rc8a1fa1836e14358" /><Relationship Type="http://schemas.openxmlformats.org/officeDocument/2006/relationships/slide" Target="/ppt/slides/slide6.xml" Id="R9e6183b9f0b2404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69137888c3b42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6f92632bca423f" /><Relationship Type="http://schemas.openxmlformats.org/officeDocument/2006/relationships/notesMaster" Target="/ppt/notesMasters/notesMaster1.xml" Id="R41cc99bc97ed4ae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51b9377a534ed3" /><Relationship Type="http://schemas.openxmlformats.org/officeDocument/2006/relationships/notesMaster" Target="/ppt/notesMasters/notesMaster1.xml" Id="R40d49d0e758843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8ae6c9b4fb4460" /><Relationship Type="http://schemas.openxmlformats.org/officeDocument/2006/relationships/notesMaster" Target="/ppt/notesMasters/notesMaster1.xml" Id="Rd531fdb6160c47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fb2573c20d54786" /><Relationship Type="http://schemas.openxmlformats.org/officeDocument/2006/relationships/notesMaster" Target="/ppt/notesMasters/notesMaster1.xml" Id="R02febc6176d14c1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ea782f6f064b91" /><Relationship Type="http://schemas.openxmlformats.org/officeDocument/2006/relationships/notesMaster" Target="/ppt/notesMasters/notesMaster1.xml" Id="R3d251e51e99144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9bdb024caa4560" /><Relationship Type="http://schemas.openxmlformats.org/officeDocument/2006/relationships/notesMaster" Target="/ppt/notesMasters/notesMaster1.xml" Id="R9790fbce53fe48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objetivo foi comparar dois aspiradores: um reativo simples e outro reativo baseado em modelos, que chamamos de agente com memória. Criamos um ambiente 4 por 4, com quatro quadrados inicialmente sujos em cada cenário. O primeiro cenário não tem obstáculos, e os outros dois têm dois obstáculos cada. Também mudamos a posição inicial e a distribuição da sujeira. Cada agente roda separadamente por 80 períodos, nas mesmas condições iniciais. O mundo é determinístico: uma ação nas mesmas condições tem sempre o mesmo efeito. A escolha aleatória do agente simples não altera essa propriedade. A observação é parcial: os agentes detectam apenas a sujeira onde estão e as passagens vizinhas. Eles não recebem o mapa nem suas dimensões. Não surge sujeira nova.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dois agentes usam regras condição-ação. A primeira regra é igual: se o quadrado atual está sujo, aspirar. Se estiver limpo, o agente simples sorteia uma passagem livre. Ele não registra os lugares que visitou. A semente 42 permite repetir as escolhas e os resultados. O outro agente mantém uma posição relativa ao ponto de partida e um dicionário com o número de visitas a cada posição. O início recebe uma visita e posições desconhecidas valem zero. Quando se move, ele atualiza sua posição e aumenta a contagem do destino. Entre as passagens livres, escolhe o destino menos visitado. Em empate, segue a ordem direita, baixo, esquerda e cima. Como o sensor informa passagem livre e o ambiente é determinístico, essa atualização corresponde ao movimento real. Sem passagem livre, os agentes ficam parados naquele período.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Cada ação ocupa um período, incluindo aspirar. Calculamos a primeira medida somando o número de quadrados limpos ao fim de cada um dos 80 períodos. Os quadrados que já estavam limpos também contam, e os obstáculos ficam fora da conta. Se houver seis quadrados limpos em um período, ganhamos seis pontos naquele período. Se continuarem limpos no próximo, ganhamos mais seis. Por isso, limpar cedo é vantajoso. Para a segunda medida, adotamos a primeira pontuação menos o número de movimentos realizados. O enunciado não repete a expressão em cada período ao descrever a segunda medida, então essa é uma interpretação explicitamente assumida. Aspirar ocupa tempo, mas não sofre o desconto de movimento. O simulador conhece todo o ambiente para pontuar, mas os agentes só recebem informações locais.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Esta tabela mostra as seis execuções, com um teste por agente em cada cenário. O agente com memória terminou sem sujeira em todos os casos. O simples deixou um quadrado sujo no cenário dois. Quando um agente limpa os quatro quadrados, gasta quatro ações aspirando e 76 se movendo. No cenário dois, o simples aspira três vezes e se move 77 vezes. As pontuações mostram também quando ele limpou: nos cenários um e três, ambos terminaram sem sujeira e fizeram o mesmo número de movimentos, mas o agente com memória obteve mais pontos por limpar mais cedo no conjunto da execução. As médias abaixo usam os três cenários com o mesmo peso. Comparamos os agentes dentro de cada cenário, pois a presença de obstáculos altera a quantidade de quadrados que podem pontuar.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Os gráficos mostram as mesmas pontuações da tabela. Azul representa o agente simples e verde representa o agente com memória. Cada grupo reúne os dois agentes no mesmo cenário. O gráfico da esquerda mostra a limpeza acumulada e o da direita desconta os movimentos. Ambos começam em zero e usam a mesma escala. O agente com memória ficou à frente nos três cenários, nas duas medidas. A diferença média foi de aproximadamente 70,67 pontos na primeira medida e 71 pontos na segunda. A penalização quase não altera a comparação, porque o número de movimentos é praticamente igual. Estes resultados se referem a três configurações fixas e a uma única semente do agente simples, sem estimar a variabilidade de outras escolhas aleatórias.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Tempo sugerido: 1 minuto e 30 segundos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Racionalidade significa escolher ações adequadas à medida de desempenho, considerando a informação disponível. A memória permitiu usar o histórico para orientar a exploração e favoreceu a limpeza mais cedo nestes testes. Isso explica as maiores pontuações. Entretanto, o agente não é necessariamente ótimo. Os dois continuam andando até completar 80 períodos e não reconhecem que toda a região acessível está limpa. Depois da limpeza completa, esses movimentos deixam de ajudar e reduzem a segunda pontuação. O simulador sabe que acabou a sujeira, mas essa informação global não é entregue aos agentes. A conclusão é que o agente com memória teve melhor desempenho nos testes realizados, e não que sempre será melhor. Para ampliar a evidência, podemos repetir com outras sementes e configurações. Uma melhoria futura seria construir um mapa dos locais descobertos e reconhecer o término da exploração antes de decidir parar.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Fontes: Projeto 1 - Avaliação Experimental de Agentes Inteligentes.pdf, páginas 1 e 2. Implementação e resultados: agentes.py, três cenários, 80 períodos, semente 42.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f37b694e814a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2c740dda7b4fe4" /><Relationship Type="http://schemas.openxmlformats.org/officeDocument/2006/relationships/slideLayout" Target="/ppt/slideLayouts/slideLayout1.xml" Id="R01d34adc82324c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1d34adc82324c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77e24988974b92" /><Relationship Type="http://schemas.openxmlformats.org/officeDocument/2006/relationships/notesSlide" Target="/ppt/notesSlides/notesSlide1.xml" Id="Rddbd486b71c141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fb61de8f54413e" /><Relationship Type="http://schemas.openxmlformats.org/officeDocument/2006/relationships/notesSlide" Target="/ppt/notesSlides/notesSlide2.xml" Id="Re1d6c362e81b40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39948e9674fbc" /><Relationship Type="http://schemas.openxmlformats.org/officeDocument/2006/relationships/notesSlide" Target="/ppt/notesSlides/notesSlide3.xml" Id="R8123380c8a2c4b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e53ce845c241d4" /><Relationship Type="http://schemas.openxmlformats.org/officeDocument/2006/relationships/notesSlide" Target="/ppt/notesSlides/notesSlide4.xml" Id="Reac29b561e7a4f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e9979ff5bc493c" /><Relationship Type="http://schemas.openxmlformats.org/officeDocument/2006/relationships/chart" Target="/ppt/slides/charts/chart1.xml" Id="R3e1b792c45f34d77" /><Relationship Type="http://schemas.openxmlformats.org/officeDocument/2006/relationships/chart" Target="/ppt/slides/charts/chart2.xml" Id="R467bebac35644a8e" /><Relationship Type="http://schemas.openxmlformats.org/officeDocument/2006/relationships/notesSlide" Target="/ppt/notesSlides/notesSlide5.xml" Id="Rd70bd992b9d74a1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b73c0e16640a0" /><Relationship Type="http://schemas.openxmlformats.org/officeDocument/2006/relationships/notesSlide" Target="/ppt/notesSlides/notesSlide6.xml" Id="R9d6f35795d79408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1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 b="1">
              <a:solidFill>
                <a:srgbClr val="2024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Simples</c:v>
          </c:tx>
          <c:spPr>
            <a:solidFill xmlns:a="http://schemas.openxmlformats.org/drawingml/2006/main">
              <a:srgbClr val="426BA5"/>
            </a:solidFill>
          </c:spPr>
          <c:cat>
            <c:strRef>
              <c:f>'Chart Data'!$A$2:$A$4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1174</c:v>
                </c:pt>
                <c:pt idx="1">
                  <c:v>1009</c:v>
                </c:pt>
                <c:pt idx="2">
                  <c:v>1009</c:v>
                </c:pt>
              </c:numCache>
            </c:numRef>
          </c:val>
        </c:ser>
        <c:ser>
          <c:idx val="1"/>
          <c:order val="1"/>
          <c:tx>
            <c:v>Com memória</c:v>
          </c:tx>
          <c:spPr>
            <a:solidFill xmlns:a="http://schemas.openxmlformats.org/drawingml/2006/main">
              <a:srgbClr val="137968"/>
            </a:solidFill>
          </c:spPr>
          <c:cat>
            <c:strRef>
              <c:f>'Chart Data'!$C$2:$C$4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1256</c:v>
                </c:pt>
                <c:pt idx="1">
                  <c:v>1083</c:v>
                </c:pt>
                <c:pt idx="2">
                  <c:v>1065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0242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7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3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Pontos 2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 b="1">
              <a:solidFill>
                <a:srgbClr val="202428"/>
              </a:solidFill>
              <a:latin typeface="Arial"/>
              <a:ea typeface="Arial"/>
              <a:cs typeface="Arial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Simples</c:v>
          </c:tx>
          <c:spPr>
            <a:solidFill xmlns:a="http://schemas.openxmlformats.org/drawingml/2006/main">
              <a:srgbClr val="426BA5"/>
            </a:solidFill>
          </c:spPr>
          <c:cat>
            <c:strRef>
              <c:f>'Chart Data'!$A$2:$A$4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1098</c:v>
                </c:pt>
                <c:pt idx="1">
                  <c:v>932</c:v>
                </c:pt>
                <c:pt idx="2">
                  <c:v>933</c:v>
                </c:pt>
              </c:numCache>
            </c:numRef>
          </c:val>
        </c:ser>
        <c:ser>
          <c:idx val="1"/>
          <c:order val="1"/>
          <c:tx>
            <c:v>Com memória</c:v>
          </c:tx>
          <c:spPr>
            <a:solidFill xmlns:a="http://schemas.openxmlformats.org/drawingml/2006/main">
              <a:srgbClr val="137968"/>
            </a:solidFill>
          </c:spPr>
          <c:cat>
            <c:strRef>
              <c:f>'Chart Data'!$C$2:$C$4</c:f>
              <c:strCache>
                <c:ptCount val="3"/>
                <c:pt idx="0">
                  <c:v>Cenário 1</c:v>
                </c:pt>
                <c:pt idx="1">
                  <c:v>Cenário 2</c:v>
                </c:pt>
                <c:pt idx="2">
                  <c:v>Cenário 3</c:v>
                </c:pt>
              </c:strCache>
            </c:strRef>
          </c:cat>
          <c:val>
            <c:numRef>
              <c:f>'Chart Data'!$D$2:$D$4</c:f>
              <c:numCache>
                <c:formatCode>0</c:formatCode>
                <c:ptCount val="3"/>
                <c:pt idx="0">
                  <c:v>1180</c:v>
                </c:pt>
                <c:pt idx="1">
                  <c:v>1007</c:v>
                </c:pt>
                <c:pt idx="2">
                  <c:v>989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202428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4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5E7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350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latin typeface="Arial"/>
              <a:ea typeface="Arial"/>
              <a:cs typeface="Arial"/>
            </a:defRPr>
          </a:pPr>
        </a:p>
      </c:txPr>
    </c:legend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881095-02CA-4609-BF44-53BF2F37A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Avaliação experimental de agentes inteligentes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E80715-300B-4BAA-B103-14DE59093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DF2139-9637-4FD1-90F3-FE920B653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137968"/>
                </a:solidFill>
                <a:latin typeface="Arial"/>
                <a:ea typeface="Arial"/>
                <a:cs typeface="Arial"/>
              </a:rPr>
              <a:t>Dois aspiradores em Python, sem interface gráfica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425C3-B811-4441-8A91-8355CF385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109728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Ambiente 4 × 4, com sujeira e obstáculos</a:t>
            </a:r>
          </a:p>
          <a:p xmlns:a="http://schemas.openxmlformats.org/drawingml/2006/main">
            <a:pPr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Três configurações iniciais e 80 períodos por execução</a:t>
            </a:r>
          </a:p>
          <a:p xmlns:a="http://schemas.openxmlformats.org/drawingml/2006/main">
            <a:pPr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Mesmas condições para comparar os dois agentes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0A14E5-59E2-444D-99BD-D5BA2F5B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Percepção local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3AF13-EADF-41E3-8A3B-3415C951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Sujeira atual e passagens vizinhas.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O agente começa sem conhecer o mapa.</a:t>
            </a:r>
          </a:p>
        </p:txBody>
      </p:sp>
    </p:spTree>
    <p:extLst>
      <p:ext uri="{BB962C8B-B14F-4D97-AF65-F5344CB8AC3E}">
        <p14:creationId xmlns:p14="http://schemas.microsoft.com/office/powerpoint/2010/main" val="15360331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1BF8B-E15B-4DB4-928C-EA56D3F04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Como os agentes escolhem suas 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D171E-FA40-4984-A341-319890218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1340B-8773-4588-99B8-2E815BFDE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5238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Reativo simples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D961A9-BBAB-4166-87A1-9478ADA0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238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Sujo: aspira.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Limpo: sorteia um caminho livre.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Não guarda os locais visitados.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6B7FD-4F2A-40C0-944A-722DCF7E9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5257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Reativo com memória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419D38-7656-428F-AF22-51425953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57425"/>
            <a:ext cx="52578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Sujo: aspira.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Limpo: escolhe o vizinho menos visitado.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Guarda posição relativa e visitas.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09614-4C5F-4EA7-BCDB-ACFD679D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Atualização do estado interno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61D564-F480-4B4C-9DB3-560CD890E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29200"/>
            <a:ext cx="10972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Após mover, atualiza a posição e soma uma visita ao destino.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Locais desconhecidos começam com zero visitas.</a:t>
            </a:r>
          </a:p>
        </p:txBody>
      </p:sp>
    </p:spTree>
    <p:extLst>
      <p:ext uri="{BB962C8B-B14F-4D97-AF65-F5344CB8AC3E}">
        <p14:creationId xmlns:p14="http://schemas.microsoft.com/office/powerpoint/2010/main" val="1399363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553FA1-FABD-41A6-BFB5-4BED5003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Regras de avaliação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42F45-FA8A-4E3D-B41F-083C2D4CA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13AAB2-D95C-4D07-B49F-C359A1B5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426BA5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426BA5"/>
                </a:solidFill>
                <a:latin typeface="Arial"/>
                <a:ea typeface="Arial"/>
                <a:cs typeface="Arial"/>
              </a:rPr>
              <a:t>Pontos 1: limpeza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409B5-B066-4019-8B10-C4BA1894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Somar os quadrados limpos ao fim de cada período.</a:t>
            </a:r>
          </a:p>
          <a:p xmlns:a="http://schemas.openxmlformats.org/drawingml/2006/main">
            <a:pPr>
              <a:defRPr sz="225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Limpar mais cedo aumenta a pontuação.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17C48A-2A0F-432F-A91A-E30F3251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Pontos 2: Pontos 1 menos movimentos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F4474D-CA80-4C29-8EAD-EC1AB11B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71975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Cada movimento desconta um ponto.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Interpretação adotada para a segunda medida do enunciado.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6040A2-9522-43C3-BED0-8821A7D8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Uma ação por período. Obstáculos não pontuam. Não aparece sujeira nova.</a:t>
            </a:r>
          </a:p>
        </p:txBody>
      </p:sp>
    </p:spTree>
    <p:extLst>
      <p:ext uri="{BB962C8B-B14F-4D97-AF65-F5344CB8AC3E}">
        <p14:creationId xmlns:p14="http://schemas.microsoft.com/office/powerpoint/2010/main" val="138875486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DDD889-DA68-496A-BEE5-8DC2E6DF2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Resultados dos três cenários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F8B63F-FEEB-4257-9290-9242E314C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09600" y="1628775"/>
          <a:ext xmlns:a="http://schemas.openxmlformats.org/drawingml/2006/main" cx="10972800" cy="3352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81100"/>
                <a:gridCol w="2400300"/>
                <a:gridCol w="1905000"/>
                <a:gridCol w="1905000"/>
                <a:gridCol w="1790700"/>
                <a:gridCol w="1790700"/>
              </a:tblGrid>
              <a:tr h="4762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Cenário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Agente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Sujeira final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Movimentos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Pontos 1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Pontos 2</a:t>
                      </a:r>
                    </a:p>
                  </a:txBody>
                  <a:tcPr marL="114300" marR="76200" marT="95250" marB="76200">
                    <a:solidFill>
                      <a:srgbClr val="E8EEF3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1174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1098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1256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1180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77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1009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932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1083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1007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Simples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1009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933</a:t>
                      </a:r>
                    </a:p>
                  </a:txBody>
                  <a:tcPr marL="114300" marR="76200" marT="95250" marB="7620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Com memória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76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1065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202428"/>
                          </a:solidFill>
                          <a:latin typeface="Arial"/>
                          <a:ea typeface="Arial"/>
                          <a:cs typeface="Arial"/>
                        </a:rPr>
                        <a:t>989</a:t>
                      </a:r>
                    </a:p>
                  </a:txBody>
                  <a:tcPr marL="114300" marR="76200" marT="95250" marB="76200">
                    <a:solidFill>
                      <a:srgbClr val="F2F7F5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052AE3-04FD-4445-A255-BB2E074C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Médias: Pontos 1 / Pontos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369E4-9D93-440F-B12A-80EA1BB3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Simples: 1064,00 / 987,67       Com memória: 1134,67 / 1058,67</a:t>
            </a:r>
          </a:p>
        </p:txBody>
      </p:sp>
    </p:spTree>
    <p:extLst>
      <p:ext uri="{BB962C8B-B14F-4D97-AF65-F5344CB8AC3E}">
        <p14:creationId xmlns:p14="http://schemas.microsoft.com/office/powerpoint/2010/main" val="75230857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96783D-0044-40F1-9BD3-C47C2B49F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Comparação das pontuações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B51AD-2E55-4A50-8655-4440954B7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609600" y="1619250"/>
          <a:ext xmlns:a="http://schemas.openxmlformats.org/drawingml/2006/main" cx="5353050" cy="4029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e1b792c45f34d77"/>
          </a:graphicData>
        </a:graphic>
      </p:graphicFrame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229350" y="1619250"/>
          <a:ext xmlns:a="http://schemas.openxmlformats.org/drawingml/2006/main" cx="5353050" cy="40290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7bebac35644a8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009AA-2B5B-4CC4-9564-6ACFD1BC8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340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O agente com memória pontuou mais nos três cenários e nas duas medidas.</a:t>
            </a:r>
          </a:p>
        </p:txBody>
      </p:sp>
    </p:spTree>
    <p:extLst>
      <p:ext uri="{BB962C8B-B14F-4D97-AF65-F5344CB8AC3E}">
        <p14:creationId xmlns:p14="http://schemas.microsoft.com/office/powerpoint/2010/main" val="20436981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56D2A-433C-44E0-BA8C-13F561680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Racionalidade e limites do experimento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1986B3-7C6F-4D4D-8814-DC1BA325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5317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535C62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35C62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6F278-8560-4F92-B569-CDC21E8AF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3796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37968"/>
                </a:solidFill>
                <a:latin typeface="Arial"/>
                <a:ea typeface="Arial"/>
                <a:cs typeface="Arial"/>
              </a:rPr>
              <a:t>A memória ajudou a orientar a exploração e antecipar a limpeza.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6D28E-4858-403B-A684-B9463365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Limitação dos agentes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9094-6D54-4DF3-BDAA-F7383F45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4805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Ambos continuam andando até completar 80 períodos.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Após limpar tudo, esses movimentos reduzem os Pontos 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8C10C-1A39-4F69-A07D-3256B186D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202428"/>
                </a:solidFill>
                <a:latin typeface="Arial"/>
                <a:ea typeface="Arial"/>
                <a:cs typeface="Arial"/>
              </a:rPr>
              <a:t>Alcance da conclusão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35B9B-F221-47A7-8515-8682570C8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Melhor desempenho com memória nos testes realizados.</a:t>
            </a:r>
          </a:p>
          <a:p xmlns:a="http://schemas.openxmlformats.org/drawingml/2006/main">
            <a:pPr>
              <a:defRPr sz="2100" b="0">
                <a:solidFill>
                  <a:srgbClr val="20242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02428"/>
                </a:solidFill>
                <a:latin typeface="Arial"/>
                <a:ea typeface="Arial"/>
                <a:cs typeface="Arial"/>
              </a:rPr>
              <a:t>Três cenários e uma semente não garantem superioridade geral.</a:t>
            </a:r>
          </a:p>
        </p:txBody>
      </p:sp>
    </p:spTree>
    <p:extLst>
      <p:ext uri="{BB962C8B-B14F-4D97-AF65-F5344CB8AC3E}">
        <p14:creationId xmlns:p14="http://schemas.microsoft.com/office/powerpoint/2010/main" val="3889575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2026-09-28T11:20:57.1030000Z</dcterms:created>
  <dcterms:modified xsi:type="dcterms:W3CDTF">2026-09-28T11:20:57.1030000Z</dcterms:modified>
</coreProperties>
</file>