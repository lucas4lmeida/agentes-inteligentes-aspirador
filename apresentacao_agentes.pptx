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2e2135f55345d1" /><Relationship Type="http://schemas.openxmlformats.org/officeDocument/2006/relationships/extended-properties" Target="/docProps/app.xml" Id="R375e691345dd4da3" /><Relationship Type="http://schemas.openxmlformats.org/officeDocument/2006/relationships/officeDocument" Target="/ppt/presentation.xml" Id="Rd9031fe94d7549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7a09dabb0c4e45"/>
  </p:sldMasterIdLst>
  <p:notesMasterIdLst>
    <p:notesMasterId xmlns:r="http://schemas.openxmlformats.org/officeDocument/2006/relationships" r:id="R35ef1386e48d453d"/>
  </p:notesMasterIdLst>
  <p:sldIdLst>
    <p:sldId xmlns:r="http://schemas.openxmlformats.org/officeDocument/2006/relationships" id="256" r:id="R835389b5c3d9454c"/>
    <p:sldId xmlns:r="http://schemas.openxmlformats.org/officeDocument/2006/relationships" id="257" r:id="R22e9d9c80f1441a0"/>
    <p:sldId xmlns:r="http://schemas.openxmlformats.org/officeDocument/2006/relationships" id="258" r:id="R112c046797b04fa7"/>
    <p:sldId xmlns:r="http://schemas.openxmlformats.org/officeDocument/2006/relationships" id="259" r:id="R2a00ccaaef924759"/>
    <p:sldId xmlns:r="http://schemas.openxmlformats.org/officeDocument/2006/relationships" id="260" r:id="R3fb428268f9b4a58"/>
    <p:sldId xmlns:r="http://schemas.openxmlformats.org/officeDocument/2006/relationships" id="261" r:id="Ra97fe488d5584c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b47db800cb4aaf" /><Relationship Type="http://schemas.openxmlformats.org/officeDocument/2006/relationships/slideMaster" Target="/ppt/slideMasters/slideMaster1.xml" Id="R527a09dabb0c4e45" /><Relationship Type="http://schemas.openxmlformats.org/officeDocument/2006/relationships/notesMaster" Target="/ppt/notesMasters/notesMaster1.xml" Id="R35ef1386e48d453d" /><Relationship Type="http://schemas.openxmlformats.org/officeDocument/2006/relationships/presProps" Target="/ppt/presProps.xml" Id="Rdeb2f02558494126" /><Relationship Type="http://schemas.openxmlformats.org/officeDocument/2006/relationships/tableStyles" Target="/ppt/tableStyles.xml" Id="R84b0f728eded4bde" /><Relationship Type="http://schemas.openxmlformats.org/officeDocument/2006/relationships/slide" Target="/ppt/slides/slide1.xml" Id="R835389b5c3d9454c" /><Relationship Type="http://schemas.openxmlformats.org/officeDocument/2006/relationships/slide" Target="/ppt/slides/slide2.xml" Id="R22e9d9c80f1441a0" /><Relationship Type="http://schemas.openxmlformats.org/officeDocument/2006/relationships/slide" Target="/ppt/slides/slide3.xml" Id="R112c046797b04fa7" /><Relationship Type="http://schemas.openxmlformats.org/officeDocument/2006/relationships/slide" Target="/ppt/slides/slide4.xml" Id="R2a00ccaaef924759" /><Relationship Type="http://schemas.openxmlformats.org/officeDocument/2006/relationships/slide" Target="/ppt/slides/slide5.xml" Id="R3fb428268f9b4a58" /><Relationship Type="http://schemas.openxmlformats.org/officeDocument/2006/relationships/slide" Target="/ppt/slides/slide6.xml" Id="Ra97fe488d5584c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98f713935742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48b20297ca4bee" /><Relationship Type="http://schemas.openxmlformats.org/officeDocument/2006/relationships/notesMaster" Target="/ppt/notesMasters/notesMaster1.xml" Id="R752233aeb4574b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7d3353fe5f4a55" /><Relationship Type="http://schemas.openxmlformats.org/officeDocument/2006/relationships/notesMaster" Target="/ppt/notesMasters/notesMaster1.xml" Id="R9560ff4fd89b42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0ae962a83f4086" /><Relationship Type="http://schemas.openxmlformats.org/officeDocument/2006/relationships/notesMaster" Target="/ppt/notesMasters/notesMaster1.xml" Id="R2c7a1aaad63547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96cfb146f3457e" /><Relationship Type="http://schemas.openxmlformats.org/officeDocument/2006/relationships/notesMaster" Target="/ppt/notesMasters/notesMaster1.xml" Id="R8c9d5f6e855946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963d59b68b486c" /><Relationship Type="http://schemas.openxmlformats.org/officeDocument/2006/relationships/notesMaster" Target="/ppt/notesMasters/notesMaster1.xml" Id="R8ede68108f774f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c7366eb4684989" /><Relationship Type="http://schemas.openxmlformats.org/officeDocument/2006/relationships/notesMaster" Target="/ppt/notesMasters/notesMaster1.xml" Id="R1d5cf7b375c34b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objetivo foi comparar dois aspiradores: um reativo simples e outro reativo baseado em modelos, que chamamos de agente com memória. Criamos um ambiente 4 por 4, com quatro quadrados inicialmente sujos em cada cenário. O primeiro cenário não tem obstáculos, e os outros dois têm dois obstáculos cada. Também mudamos a posição inicial e a distribuição da sujeira. Cada agente roda separadamente por 80 períodos, nas mesmas condições iniciais. O mundo é determinístico: uma ação nas mesmas condições tem sempre o mesmo efeito. A escolha aleatória do agente simples não altera essa propriedade. A observação é parcial: os agentes detectam apenas a sujeira onde estão e as passagens vizinhas. Eles não recebem o mapa nem suas dimensões. Não surge sujeira nova.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dois agentes usam regras condição-ação. A primeira regra é igual: se o quadrado atual está sujo, aspirar. Se estiver limpo, o agente simples sorteia uma passagem livre. Ele não registra os lugares que visitou. A semente 42 permite repetir as escolhas e os resultados. O outro agente mantém uma posição relativa ao ponto de partida e um dicionário com o número de visitas a cada posição. O início recebe uma visita e posições desconhecidas valem zero. Quando se move, ele atualiza sua posição e aumenta a contagem do destino. Entre as passagens livres, escolhe o destino menos visitado. Em empate, segue a ordem direita, baixo, esquerda e cima. Como o sensor informa passagem livre e o ambiente é determinístico, essa atualização corresponde ao movimento real. Sem passagem livre, os agentes ficam parados naquele período.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ação ocupa um período, incluindo aspirar. Calculamos a primeira medida somando o número de quadrados limpos ao fim de cada um dos 80 períodos. Os quadrados que já estavam limpos também contam, e os obstáculos ficam fora da conta. Se houver seis quadrados limpos em um período, ganhamos seis pontos naquele período. Se continuarem limpos no próximo, ganhamos mais seis. Por isso, limpar cedo é vantajoso. Para a segunda medida, adotamos a primeira pontuação menos o número de movimentos realizados. O enunciado não repete a expressão em cada período ao descrever a segunda medida, então essa é uma interpretação explicitamente assumida. Aspirar ocupa tempo, mas não sofre o desconto de movimento. O simulador conhece todo o ambiente para pontuar, mas os agentes só recebem informações locais.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Esta tabela mostra as seis execuções, com um teste por agente em cada cenário. O agente com memória terminou sem sujeira em todos os casos. O simples deixou um quadrado sujo no cenário dois. Quando um agente limpa os quatro quadrados, gasta quatro ações aspirando e 76 se movendo. No cenário dois, o simples aspira três vezes e se move 77 vezes. As pontuações mostram também quando ele limpou: nos cenários um e três, ambos terminaram sem sujeira e fizeram o mesmo número de movimentos, mas o agente com memória obteve mais pontos por limpar mais cedo no conjunto da execução. As médias abaixo usam os três cenários com o mesmo peso. Comparamos os agentes dentro de cada cenário, pois a presença de obstáculos altera a quantidade de quadrados que podem pontuar.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gráficos mostram as mesmas pontuações da tabela. Azul representa o agente simples e verde representa o agente com memória. Cada grupo reúne os dois agentes no mesmo cenário. O gráfico da esquerda mostra a limpeza acumulada e o da direita desconta os movimentos. Ambos começam em zero e usam a mesma escala. O agente com memória ficou à frente nos três cenários, nas duas medidas. A diferença média foi de aproximadamente 70,67 pontos na primeira medida e 71 pontos na segunda. A penalização quase não altera a comparação, porque o número de movimentos é praticamente igual. Estes resultados se referem a três configurações fixas e a uma única semente do agente simples, sem estimar a variabilidade de outras escolhas aleatórias.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Racionalidade significa escolher ações adequadas à medida de desempenho, considerando a informação disponível. A memória permitiu usar o histórico para orientar a exploração e favoreceu a limpeza mais cedo nestes testes. Isso explica as maiores pontuações. Entretanto, o agente não é necessariamente ótimo. Os dois continuam andando até completar 80 períodos e não reconhecem que toda a região acessível está limpa. Depois da limpeza completa, esses movimentos deixam de ajudar e reduzem a segunda pontuação. O simulador sabe que acabou a sujeira, mas essa informação global não é entregue aos agentes. A conclusão é que o agente com memória teve melhor desempenho nos testes realizados, e não que sempre será melhor. Para ampliar a evidência, podemos repetir com outras sementes e configurações. Uma melhoria futura seria construir um mapa dos locais descobertos e reconhecer o término da exploração antes de decidir parar.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300a9c5b54d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a1df1b2fd345f7" /><Relationship Type="http://schemas.openxmlformats.org/officeDocument/2006/relationships/slideLayout" Target="/ppt/slideLayouts/slideLayout1.xml" Id="Rc871dba73d3b46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71dba73d3b46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38929e3c844d8" /><Relationship Type="http://schemas.openxmlformats.org/officeDocument/2006/relationships/notesSlide" Target="/ppt/notesSlides/notesSlide1.xml" Id="R1afde4f6b7c64a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f0a8db433417a" /><Relationship Type="http://schemas.openxmlformats.org/officeDocument/2006/relationships/notesSlide" Target="/ppt/notesSlides/notesSlide2.xml" Id="R5f734d003ca446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1391ecb924448" /><Relationship Type="http://schemas.openxmlformats.org/officeDocument/2006/relationships/notesSlide" Target="/ppt/notesSlides/notesSlide3.xml" Id="R76dfce35dec241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f7096545f448b" /><Relationship Type="http://schemas.openxmlformats.org/officeDocument/2006/relationships/notesSlide" Target="/ppt/notesSlides/notesSlide4.xml" Id="Rab110ac4680942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22008094f4307" /><Relationship Type="http://schemas.openxmlformats.org/officeDocument/2006/relationships/chart" Target="/ppt/slides/charts/chart1.xml" Id="R9e93513a50564504" /><Relationship Type="http://schemas.openxmlformats.org/officeDocument/2006/relationships/chart" Target="/ppt/slides/charts/chart2.xml" Id="R3aa2182f5daa4f0d" /><Relationship Type="http://schemas.openxmlformats.org/officeDocument/2006/relationships/notesSlide" Target="/ppt/notesSlides/notesSlide5.xml" Id="R1fe902b318534f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2c1e9d3bb404a" /><Relationship Type="http://schemas.openxmlformats.org/officeDocument/2006/relationships/notesSlide" Target="/ppt/notesSlides/notesSlide6.xml" Id="Rdc8c3dd99af3422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 b="1">
              <a:solidFill>
                <a:srgbClr val="2024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Simples</c:v>
          </c:tx>
          <c:spPr>
            <a:solidFill xmlns:a="http://schemas.openxmlformats.org/drawingml/2006/main">
              <a:srgbClr val="426BA5"/>
            </a:solidFill>
          </c:spPr>
          <c:cat>
            <c:strRef>
              <c:f>'Chart Data'!$A$2:$A$4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1174</c:v>
                </c:pt>
                <c:pt idx="1">
                  <c:v>1009</c:v>
                </c:pt>
                <c:pt idx="2">
                  <c:v>1009</c:v>
                </c:pt>
              </c:numCache>
            </c:numRef>
          </c:val>
        </c:ser>
        <c:ser>
          <c:idx val="1"/>
          <c:order val="1"/>
          <c:tx>
            <c:v>Com memória</c:v>
          </c:tx>
          <c:spPr>
            <a:solidFill xmlns:a="http://schemas.openxmlformats.org/drawingml/2006/main">
              <a:srgbClr val="137968"/>
            </a:solidFill>
          </c:spPr>
          <c:cat>
            <c:strRef>
              <c:f>'Chart Data'!$C$2:$C$4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1256</c:v>
                </c:pt>
                <c:pt idx="1">
                  <c:v>1083</c:v>
                </c:pt>
                <c:pt idx="2">
                  <c:v>1065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0242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7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3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 b="1">
              <a:solidFill>
                <a:srgbClr val="2024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Simples</c:v>
          </c:tx>
          <c:spPr>
            <a:solidFill xmlns:a="http://schemas.openxmlformats.org/drawingml/2006/main">
              <a:srgbClr val="426BA5"/>
            </a:solidFill>
          </c:spPr>
          <c:cat>
            <c:strRef>
              <c:f>'Chart Data'!$A$2:$A$4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1098</c:v>
                </c:pt>
                <c:pt idx="1">
                  <c:v>932</c:v>
                </c:pt>
                <c:pt idx="2">
                  <c:v>933</c:v>
                </c:pt>
              </c:numCache>
            </c:numRef>
          </c:val>
        </c:ser>
        <c:ser>
          <c:idx val="1"/>
          <c:order val="1"/>
          <c:tx>
            <c:v>Com memória</c:v>
          </c:tx>
          <c:spPr>
            <a:solidFill xmlns:a="http://schemas.openxmlformats.org/drawingml/2006/main">
              <a:srgbClr val="137968"/>
            </a:solidFill>
          </c:spPr>
          <c:cat>
            <c:strRef>
              <c:f>'Chart Data'!$C$2:$C$4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1180</c:v>
                </c:pt>
                <c:pt idx="1">
                  <c:v>1007</c:v>
                </c:pt>
                <c:pt idx="2">
                  <c:v>989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0242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7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3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81095-02CA-4609-BF44-53BF2F37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Avaliação experimental</a:t>
            </a:r>
          </a:p>
          <a:p xmlns:a="http://schemas.openxmlformats.org/drawingml/2006/main">
            <a:pPr>
              <a:buNone/>
              <a:defRPr sz="367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de agentes inteligentes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80715-300B-4BAA-B103-14DE5909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F2139-9637-4FD1-90F3-FE920B65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7968"/>
                </a:solidFill>
                <a:latin typeface="Arial"/>
                <a:ea typeface="Arial"/>
                <a:cs typeface="Arial"/>
              </a:rPr>
              <a:t>Dois aspiradores em Python, sem interface gráfica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425C3-B811-4441-8A91-8355CF38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4 ×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A14E5-59E2-444D-99BD-D5BA2F5B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Percepção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3AF13-EADF-41E3-8A3B-3415C951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Sujeira atual e passagens vizinhas. Sem conhecimento prévio do mapa.</a:t>
            </a:r>
          </a:p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Os dois agentes começam nas mesmas condições.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55E7C-F4F5-422B-B06E-D1861539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dimensões do ambiente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132C3-704D-48F2-8049-02806A6F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9557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215528-4878-440B-B631-4BF98E96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9567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cenários iniciais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52C3FF-DB8A-422F-B528-AF4041E4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9557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28FACE-DCBE-41BA-AD9E-4FB7A8CD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9567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passos por execução</a:t>
            </a:r>
          </a:p>
        </p:txBody>
      </p:sp>
    </p:spTree>
    <p:extLst>
      <p:ext uri="{BB962C8B-B14F-4D97-AF65-F5344CB8AC3E}">
        <p14:creationId xmlns:p14="http://schemas.microsoft.com/office/powerpoint/2010/main" val="1536033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1BF8B-E15B-4DB4-928C-EA56D3F0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Como os agentes escolhem suas 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D171E-FA40-4984-A341-3198902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1340B-8773-4588-99B8-2E815BFD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Reativo simples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961A9-BBAB-4166-87A1-9478ADA0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238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Sujo: aspira.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Limpo: sorteia um caminho livre.</a:t>
            </a:r>
          </a:p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Não guarda os locais visitados.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6B7FD-4F2A-40C0-944A-722DCF7E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Reativo com memória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19D38-7656-428F-AF22-51425953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52578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Sujo: aspira.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Limpo: prefere o vizinho menos visitado.</a:t>
            </a:r>
          </a:p>
          <a:p xmlns:a="http://schemas.openxmlformats.org/drawingml/2006/main">
            <a:pPr>
              <a:buNone/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Guarda posição relativa e visitas.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09614-4C5F-4EA7-BCDB-ACFD679D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Atualização do estado interno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1D564-F480-4B4C-9DB3-560CD890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Após mover, atualiza a posição e soma uma visita ao destino.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Locais desconhecidos começam com zero visitas.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CD1963-F6BF-49AA-AD13-FDFD56E9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5E8"/>
            </a:solidFill>
          </a:ln>
        </p:spPr>
      </p:sp>
    </p:spTree>
    <p:extLst>
      <p:ext uri="{BB962C8B-B14F-4D97-AF65-F5344CB8AC3E}">
        <p14:creationId xmlns:p14="http://schemas.microsoft.com/office/powerpoint/2010/main" val="1399363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53FA1-FABD-41A6-BFB5-4BED5003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Regras de avaliação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42F45-FA8A-4E3D-B41F-083C2D4C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3AAB2-D95C-4D07-B49F-C359A1B5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Pontos 1: limpeza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409B5-B066-4019-8B10-C4BA1894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Somar os quadrados limpos ao fim de cada período.</a:t>
            </a:r>
          </a:p>
          <a:p xmlns:a="http://schemas.openxmlformats.org/drawingml/2006/main">
            <a:pPr>
              <a:buNone/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Limpar mais cedo aumenta a pontuação.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7C48A-2A0F-432F-A91A-E30F3251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Pontos 2: Pontos 1 menos movimentos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4474D-CA80-4C29-8EAD-EC1AB11B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Cada movimento desconta um ponto.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Interpretação adotada para a segunda medida do enunciado.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040A2-9522-43C3-BED0-8821A7D8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Uma ação por período. Obstáculos não pontuam. Não aparece sujeira nova.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0B44B-4115-4278-99A8-C57D4663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5E8"/>
            </a:solidFill>
          </a:ln>
        </p:spPr>
      </p:sp>
    </p:spTree>
    <p:extLst>
      <p:ext uri="{BB962C8B-B14F-4D97-AF65-F5344CB8AC3E}">
        <p14:creationId xmlns:p14="http://schemas.microsoft.com/office/powerpoint/2010/main" val="13887548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DD889-DA68-496A-BEE5-8DC2E6DF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Resultados dos três cenários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8B63F-FEEB-4257-9290-9242E314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628775"/>
          <a:ext xmlns:a="http://schemas.openxmlformats.org/drawingml/2006/main" cx="10972800" cy="3352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81100"/>
                <a:gridCol w="2400300"/>
                <a:gridCol w="1905000"/>
                <a:gridCol w="1905000"/>
                <a:gridCol w="1790700"/>
                <a:gridCol w="17907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Cenário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Agente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Sujeira final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Movimentos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Pontos 1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Pontos 2</a:t>
                      </a:r>
                    </a:p>
                  </a:txBody>
                  <a:tcPr marL="114300" marR="95250" marT="95250" marB="76200">
                    <a:solidFill>
                      <a:srgbClr val="426BA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426BA5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1174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1098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796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1256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1180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426BA5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77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1009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932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796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1083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1007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426BA5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1009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933</a:t>
                      </a:r>
                    </a:p>
                  </a:txBody>
                  <a:tcPr marL="114300" marR="9525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3796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1065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989</a:t>
                      </a:r>
                    </a:p>
                  </a:txBody>
                  <a:tcPr marL="114300" marR="95250" marT="95250" marB="76200">
                    <a:solidFill>
                      <a:srgbClr val="F1F7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52AE3-04FD-4445-A255-BB2E074C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Médias: Simples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369E4-9D93-440F-B12A-80EA1BB3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5286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1: 1064,00     Pontos 2: 987,67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ACF9F-CC44-4E92-8C70-4C13029F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5E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09A05-6862-4C63-A2A5-96FC783A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76850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Médias: Com memória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8C1AF-A2C2-4B2A-8F18-A747D1C9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753100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1: 1134,67     Pontos 2: 1058,67</a:t>
            </a:r>
          </a:p>
        </p:txBody>
      </p:sp>
    </p:spTree>
    <p:extLst>
      <p:ext uri="{BB962C8B-B14F-4D97-AF65-F5344CB8AC3E}">
        <p14:creationId xmlns:p14="http://schemas.microsoft.com/office/powerpoint/2010/main" val="7523085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6783D-0044-40F1-9BD3-C47C2B49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Comparação das pontuações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B51AD-2E55-4A50-8655-4440954B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5353050" cy="4029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93513a50564504"/>
          </a:graphicData>
        </a:graphic>
      </p:graphicFrame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229350" y="1619250"/>
          <a:ext xmlns:a="http://schemas.openxmlformats.org/drawingml/2006/main" cx="5353050" cy="4029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a2182f5daa4f0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009AA-2B5B-4CC4-9564-6ACFD1BC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O agente com memória pontuou mais nos três cenários e nas duas medidas.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92944-DA54-4381-8339-793C5257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5E8"/>
            </a:solidFill>
          </a:ln>
        </p:spPr>
      </p:sp>
    </p:spTree>
    <p:extLst>
      <p:ext uri="{BB962C8B-B14F-4D97-AF65-F5344CB8AC3E}">
        <p14:creationId xmlns:p14="http://schemas.microsoft.com/office/powerpoint/2010/main" val="20436981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56D2A-433C-44E0-BA8C-13F56168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Racionalidade e limites do experimento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986B3-7C6F-4D4D-8814-DC1BA325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6F278-8560-4F92-B569-CDC21E8A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A memória favoreceu a exploração</a:t>
            </a:r>
          </a:p>
          <a:p xmlns:a="http://schemas.openxmlformats.org/drawingml/2006/main">
            <a:pPr>
              <a:buNone/>
              <a:defRPr sz="262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e antecipou a limpeza nos testes.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6D28E-4858-403B-A684-B9463365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Limitação dos agentes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9094-6D54-4DF3-BDAA-F7383F45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Ambos continuam andando até completar 80 períodos.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Após limpar tudo, esses movimentos reduzem os Pontos 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8C10C-1A39-4F69-A07D-3256B18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Alcance da conclusão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35B9B-F221-47A7-8515-8682570C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Melhor desempenho com memória nos testes realizados.</a:t>
            </a:r>
          </a:p>
          <a:p xmlns:a="http://schemas.openxmlformats.org/drawingml/2006/main">
            <a:pPr>
              <a:buNone/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Três cenários e uma semente não garantem superioridade geral.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3B2ED-81C0-429A-BA4B-71E57390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5E8"/>
            </a:solidFill>
          </a:ln>
        </p:spPr>
      </p:sp>
    </p:spTree>
    <p:extLst>
      <p:ext uri="{BB962C8B-B14F-4D97-AF65-F5344CB8AC3E}">
        <p14:creationId xmlns:p14="http://schemas.microsoft.com/office/powerpoint/2010/main" val="3889575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2026-09-29T00:30:52.1880000Z</dcterms:created>
  <dcterms:modified xsi:type="dcterms:W3CDTF">2026-09-29T00:30:52.1880000Z</dcterms:modified>
</coreProperties>
</file>